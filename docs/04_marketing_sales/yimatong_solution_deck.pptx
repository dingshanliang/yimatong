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一码通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2743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Microsoft YaHei"/>
              </a:defRPr>
            </a:pPr>
            <a:r>
              <a:t>把包装二维码</a:t>
            </a:r>
            <a:br/>
            <a:r>
              <a:t>变成增长入口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143000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C2326"/>
                </a:solidFill>
                <a:latin typeface="Microsoft YaHei"/>
              </a:defRPr>
            </a:pPr>
            <a:r>
              <a:t>轻量溯源 · 权益营销 · 私域连接 · 复购归因 · 防伪防窜预警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9202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6C74"/>
                </a:solidFill>
                <a:latin typeface="Microsoft YaHei"/>
              </a:defRPr>
            </a:pPr>
            <a:r>
              <a:t>面向食品、农产品及消费品品牌方的包装扫码增长 SaaS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971800"/>
            <a:ext cx="1234440" cy="594360"/>
          </a:xfrm>
          <a:prstGeom prst="roundRect">
            <a:avLst/>
          </a:prstGeom>
          <a:solidFill>
            <a:srgbClr val="F4F8F6"/>
          </a:solidFill>
          <a:ln w="15240">
            <a:solidFill>
              <a:srgbClr val="16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52544" y="3072384"/>
            <a:ext cx="112471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包装码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32120" y="3268980"/>
            <a:ext cx="210312" cy="0"/>
          </a:xfrm>
          <a:prstGeom prst="line">
            <a:avLst/>
          </a:prstGeom>
          <a:ln w="16510">
            <a:solidFill>
              <a:srgbClr val="167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742432" y="2971800"/>
            <a:ext cx="123444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97296" y="3072384"/>
            <a:ext cx="112471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信任页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76872" y="3268980"/>
            <a:ext cx="210312" cy="0"/>
          </a:xfrm>
          <a:prstGeom prst="line">
            <a:avLst/>
          </a:prstGeom>
          <a:ln w="16510">
            <a:solidFill>
              <a:srgbClr val="167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187184" y="2971800"/>
            <a:ext cx="1234440" cy="594360"/>
          </a:xfrm>
          <a:prstGeom prst="roundRect">
            <a:avLst/>
          </a:prstGeom>
          <a:solidFill>
            <a:srgbClr val="F4F8F6"/>
          </a:solidFill>
          <a:ln w="15240">
            <a:solidFill>
              <a:srgbClr val="16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42048" y="3072384"/>
            <a:ext cx="112471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领权益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21624" y="3268980"/>
            <a:ext cx="210312" cy="0"/>
          </a:xfrm>
          <a:prstGeom prst="line">
            <a:avLst/>
          </a:prstGeom>
          <a:ln w="16510">
            <a:solidFill>
              <a:srgbClr val="167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631936" y="2971800"/>
            <a:ext cx="123444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3072384"/>
            <a:ext cx="112471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进私域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66376" y="3268980"/>
            <a:ext cx="210312" cy="0"/>
          </a:xfrm>
          <a:prstGeom prst="line">
            <a:avLst/>
          </a:prstGeom>
          <a:ln w="16510">
            <a:solidFill>
              <a:srgbClr val="167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076688" y="2971800"/>
            <a:ext cx="1234440" cy="594360"/>
          </a:xfrm>
          <a:prstGeom prst="roundRect">
            <a:avLst/>
          </a:prstGeom>
          <a:solidFill>
            <a:srgbClr val="F4F8F6"/>
          </a:solidFill>
          <a:ln w="15240">
            <a:solidFill>
              <a:srgbClr val="16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31552" y="3072384"/>
            <a:ext cx="112471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复购归因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66344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C2326"/>
                </a:solidFill>
                <a:latin typeface="Microsoft YaHei"/>
              </a:defRPr>
            </a:pPr>
            <a:r>
              <a:t>独立闭环产品，可单独销售和使用；也可与食链通 / GTS / 商城 / CRM / ERP 联动。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598932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E6C74"/>
                </a:solidFill>
                <a:latin typeface="Microsoft YaHei"/>
              </a:defRPr>
            </a:pPr>
            <a:r>
              <a:t>解决方案介绍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326"/>
                </a:solidFill>
                <a:latin typeface="Microsoft YaHei"/>
              </a:defRPr>
            </a:pPr>
            <a:r>
              <a:t>01｜为什么包装二维码值得重做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658368" cy="54864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C74"/>
                </a:solidFill>
                <a:latin typeface="Microsoft YaHei"/>
              </a:defRPr>
            </a:pPr>
            <a:r>
              <a:t>包装是离消费者最近、最稳定、最可规模化的触点。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320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C74"/>
                </a:solidFill>
                <a:latin typeface="Microsoft YaHei"/>
              </a:defRPr>
            </a:pPr>
            <a:r>
              <a:t>一码通 · 包装扫码增长 SaaS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73152" cy="3566160"/>
          </a:xfrm>
          <a:prstGeom prst="rect">
            <a:avLst/>
          </a:prstGeom>
          <a:solidFill>
            <a:srgbClr val="C4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64591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传统包装码的问题</a:t>
            </a:r>
          </a:p>
        </p:txBody>
      </p:sp>
      <p:sp>
        <p:nvSpPr>
          <p:cNvPr id="10" name="Oval 9"/>
          <p:cNvSpPr/>
          <p:nvPr/>
        </p:nvSpPr>
        <p:spPr>
          <a:xfrm>
            <a:off x="886968" y="2121408"/>
            <a:ext cx="109728" cy="109728"/>
          </a:xfrm>
          <a:prstGeom prst="ellipse">
            <a:avLst/>
          </a:prstGeom>
          <a:solidFill>
            <a:srgbClr val="C4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075688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只展示批次号或静态信息</a:t>
            </a:r>
          </a:p>
        </p:txBody>
      </p:sp>
      <p:sp>
        <p:nvSpPr>
          <p:cNvPr id="12" name="Oval 11"/>
          <p:cNvSpPr/>
          <p:nvPr/>
        </p:nvSpPr>
        <p:spPr>
          <a:xfrm>
            <a:off x="886968" y="2505456"/>
            <a:ext cx="109728" cy="109728"/>
          </a:xfrm>
          <a:prstGeom prst="ellipse">
            <a:avLst/>
          </a:prstGeom>
          <a:solidFill>
            <a:srgbClr val="C4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459736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扫码后没有下一步动作</a:t>
            </a:r>
          </a:p>
        </p:txBody>
      </p:sp>
      <p:sp>
        <p:nvSpPr>
          <p:cNvPr id="14" name="Oval 13"/>
          <p:cNvSpPr/>
          <p:nvPr/>
        </p:nvSpPr>
        <p:spPr>
          <a:xfrm>
            <a:off x="886968" y="2889503"/>
            <a:ext cx="109728" cy="109728"/>
          </a:xfrm>
          <a:prstGeom prst="ellipse">
            <a:avLst/>
          </a:prstGeom>
          <a:solidFill>
            <a:srgbClr val="C4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284378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投入溯源成本却难以带来复购</a:t>
            </a:r>
          </a:p>
        </p:txBody>
      </p:sp>
      <p:sp>
        <p:nvSpPr>
          <p:cNvPr id="16" name="Oval 15"/>
          <p:cNvSpPr/>
          <p:nvPr/>
        </p:nvSpPr>
        <p:spPr>
          <a:xfrm>
            <a:off x="886968" y="3273552"/>
            <a:ext cx="109728" cy="109728"/>
          </a:xfrm>
          <a:prstGeom prst="ellipse">
            <a:avLst/>
          </a:prstGeom>
          <a:solidFill>
            <a:srgbClr val="C4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322783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消费者数据无法回到经营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1508760"/>
            <a:ext cx="73152" cy="3566160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164591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品牌方真正需要</a:t>
            </a:r>
          </a:p>
        </p:txBody>
      </p:sp>
      <p:sp>
        <p:nvSpPr>
          <p:cNvPr id="21" name="Oval 20"/>
          <p:cNvSpPr/>
          <p:nvPr/>
        </p:nvSpPr>
        <p:spPr>
          <a:xfrm>
            <a:off x="4590288" y="2121408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73168" y="2075688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让消费者相信产品</a:t>
            </a:r>
          </a:p>
        </p:txBody>
      </p:sp>
      <p:sp>
        <p:nvSpPr>
          <p:cNvPr id="23" name="Oval 22"/>
          <p:cNvSpPr/>
          <p:nvPr/>
        </p:nvSpPr>
        <p:spPr>
          <a:xfrm>
            <a:off x="4590288" y="2505456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2459736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把买过的人带回私域</a:t>
            </a:r>
          </a:p>
        </p:txBody>
      </p:sp>
      <p:sp>
        <p:nvSpPr>
          <p:cNvPr id="25" name="Oval 24"/>
          <p:cNvSpPr/>
          <p:nvPr/>
        </p:nvSpPr>
        <p:spPr>
          <a:xfrm>
            <a:off x="4590288" y="2889503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284378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发券、积分、活动促进复购</a:t>
            </a:r>
          </a:p>
        </p:txBody>
      </p:sp>
      <p:sp>
        <p:nvSpPr>
          <p:cNvPr id="27" name="Oval 26"/>
          <p:cNvSpPr/>
          <p:nvPr/>
        </p:nvSpPr>
        <p:spPr>
          <a:xfrm>
            <a:off x="4590288" y="3273552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73168" y="322783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知道哪个渠道、区域、产品有效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150876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1508760"/>
            <a:ext cx="73152" cy="3566160"/>
          </a:xfrm>
          <a:prstGeom prst="rect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164591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一码通的机会</a:t>
            </a:r>
          </a:p>
        </p:txBody>
      </p:sp>
      <p:sp>
        <p:nvSpPr>
          <p:cNvPr id="32" name="Oval 31"/>
          <p:cNvSpPr/>
          <p:nvPr/>
        </p:nvSpPr>
        <p:spPr>
          <a:xfrm>
            <a:off x="8293608" y="2121408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76488" y="2075688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把码变成产品数字身份</a:t>
            </a:r>
          </a:p>
        </p:txBody>
      </p:sp>
      <p:sp>
        <p:nvSpPr>
          <p:cNvPr id="34" name="Oval 33"/>
          <p:cNvSpPr/>
          <p:nvPr/>
        </p:nvSpPr>
        <p:spPr>
          <a:xfrm>
            <a:off x="8293608" y="2505456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76488" y="2459736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把扫码变成营销入口</a:t>
            </a:r>
          </a:p>
        </p:txBody>
      </p:sp>
      <p:sp>
        <p:nvSpPr>
          <p:cNvPr id="36" name="Oval 35"/>
          <p:cNvSpPr/>
          <p:nvPr/>
        </p:nvSpPr>
        <p:spPr>
          <a:xfrm>
            <a:off x="8293608" y="2889503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284378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把包装流量变成用户资产</a:t>
            </a:r>
          </a:p>
        </p:txBody>
      </p:sp>
      <p:sp>
        <p:nvSpPr>
          <p:cNvPr id="38" name="Oval 37"/>
          <p:cNvSpPr/>
          <p:nvPr/>
        </p:nvSpPr>
        <p:spPr>
          <a:xfrm>
            <a:off x="8293608" y="3273552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76488" y="322783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把溯源从成本中心变利润中心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7150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C2326"/>
                </a:solidFill>
                <a:latin typeface="Microsoft YaHei"/>
              </a:defRPr>
            </a:pPr>
            <a:r>
              <a:t>核心判断：二维码本身不是壁垒，码背后的页面、权益、数据和运营闭环才是价值。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326"/>
                </a:solidFill>
                <a:latin typeface="Microsoft YaHei"/>
              </a:defRPr>
            </a:pPr>
            <a:r>
              <a:t>02｜为什么是现在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658368" cy="54864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C74"/>
                </a:solidFill>
                <a:latin typeface="Microsoft YaHei"/>
              </a:defRPr>
            </a:pPr>
            <a:r>
              <a:t>二维码包装正在从“信息展示”走向“产品数字身份 + 消费者连接”。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320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C74"/>
                </a:solidFill>
                <a:latin typeface="Microsoft YaHei"/>
              </a:defRPr>
            </a:pPr>
            <a:r>
              <a:t>一码通 · 包装扫码增长 SaaS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474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3840480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C2326"/>
                </a:solidFill>
                <a:latin typeface="Microsoft YaHei"/>
              </a:defRPr>
            </a:pPr>
            <a:r>
              <a:t>全球标准趋势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965960"/>
            <a:ext cx="31546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E6C74"/>
                </a:solidFill>
                <a:latin typeface="Microsoft YaHei"/>
              </a:defRPr>
            </a:pPr>
            <a:r>
              <a:t>GS1 Sunrise 2027 推动零售行业从 1D 条码向 QR Code 等 2D 条码演进，强调更丰富数据、透明度和追溯。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474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417320"/>
            <a:ext cx="73152" cy="3840480"/>
          </a:xfrm>
          <a:prstGeom prst="rect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C2326"/>
                </a:solidFill>
                <a:latin typeface="Microsoft YaHei"/>
              </a:defRPr>
            </a:pPr>
            <a:r>
              <a:t>消费者行为成熟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1965960"/>
            <a:ext cx="31546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E6C74"/>
                </a:solidFill>
                <a:latin typeface="Microsoft YaHei"/>
              </a:defRPr>
            </a:pPr>
            <a:r>
              <a:t>消费者已经习惯用微信、相机、支付宝扫码。包装码天然适合承载产品信息、权益、售后和复购入口。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474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417320"/>
            <a:ext cx="73152" cy="3840480"/>
          </a:xfrm>
          <a:prstGeom prst="rect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C2326"/>
                </a:solidFill>
                <a:latin typeface="Microsoft YaHei"/>
              </a:defRPr>
            </a:pPr>
            <a:r>
              <a:t>私域和复购压力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1965960"/>
            <a:ext cx="31546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E6C74"/>
                </a:solidFill>
                <a:latin typeface="Microsoft YaHei"/>
              </a:defRPr>
            </a:pPr>
            <a:r>
              <a:t>食品/农产品获客成本高，复购周期长。包装码是“已购买用户”的低成本再连接入口。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150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C2326"/>
                </a:solidFill>
                <a:latin typeface="Microsoft YaHei"/>
              </a:defRPr>
            </a:pPr>
            <a:r>
              <a:t>结论：现在不是多印一个二维码，而是把包装上的固定触点升级为可运营的增长资产。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326"/>
                </a:solidFill>
                <a:latin typeface="Microsoft YaHei"/>
              </a:defRPr>
            </a:pPr>
            <a:r>
              <a:t>03｜一码通是什么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658368" cy="54864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C74"/>
                </a:solidFill>
                <a:latin typeface="Microsoft YaHei"/>
              </a:defRPr>
            </a:pPr>
            <a:r>
              <a:t>独立闭环的包装扫码增长 SaaS。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320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C74"/>
                </a:solidFill>
                <a:latin typeface="Microsoft YaHei"/>
              </a:defRPr>
            </a:pPr>
            <a:r>
              <a:t>一码通 · 包装扫码增长 SaaS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67050"/>
                </a:solidFill>
                <a:latin typeface="Microsoft YaHei"/>
              </a:defRPr>
            </a:pPr>
            <a:r>
              <a:t>一码通 = 码管理 + 轻量溯源 + H5 页面引擎 + 权益活动 + 私域承接 + 数据归因 + 轻量风控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31720"/>
            <a:ext cx="1600200" cy="694944"/>
          </a:xfrm>
          <a:prstGeom prst="roundRect">
            <a:avLst/>
          </a:prstGeom>
          <a:solidFill>
            <a:srgbClr val="F4F8F6"/>
          </a:solidFill>
          <a:ln w="15240">
            <a:solidFill>
              <a:srgbClr val="16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432303"/>
            <a:ext cx="149047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生成/接管码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23160" y="2679191"/>
            <a:ext cx="256031" cy="0"/>
          </a:xfrm>
          <a:prstGeom prst="line">
            <a:avLst/>
          </a:prstGeom>
          <a:ln w="16510">
            <a:solidFill>
              <a:srgbClr val="167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679192" y="2331720"/>
            <a:ext cx="1600200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34056" y="2432303"/>
            <a:ext cx="149047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产品信任页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9392" y="2679191"/>
            <a:ext cx="256032" cy="0"/>
          </a:xfrm>
          <a:prstGeom prst="line">
            <a:avLst/>
          </a:prstGeom>
          <a:ln w="16510">
            <a:solidFill>
              <a:srgbClr val="167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35424" y="2331720"/>
            <a:ext cx="1600200" cy="694944"/>
          </a:xfrm>
          <a:prstGeom prst="roundRect">
            <a:avLst/>
          </a:prstGeom>
          <a:solidFill>
            <a:srgbClr val="F4F8F6"/>
          </a:solidFill>
          <a:ln w="15240">
            <a:solidFill>
              <a:srgbClr val="16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432303"/>
            <a:ext cx="149047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优惠券/权益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35624" y="2679191"/>
            <a:ext cx="256032" cy="0"/>
          </a:xfrm>
          <a:prstGeom prst="line">
            <a:avLst/>
          </a:prstGeom>
          <a:ln w="16510">
            <a:solidFill>
              <a:srgbClr val="167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91656" y="2331720"/>
            <a:ext cx="1600200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432303"/>
            <a:ext cx="149047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企微/商城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91856" y="2679191"/>
            <a:ext cx="256032" cy="0"/>
          </a:xfrm>
          <a:prstGeom prst="line">
            <a:avLst/>
          </a:prstGeom>
          <a:ln w="16510">
            <a:solidFill>
              <a:srgbClr val="167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47888" y="2331720"/>
            <a:ext cx="1600200" cy="694944"/>
          </a:xfrm>
          <a:prstGeom prst="roundRect">
            <a:avLst/>
          </a:prstGeom>
          <a:solidFill>
            <a:srgbClr val="F4F8F6"/>
          </a:solidFill>
          <a:ln w="15240">
            <a:solidFill>
              <a:srgbClr val="16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2432303"/>
            <a:ext cx="149047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成交归因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848088" y="2679191"/>
            <a:ext cx="256032" cy="0"/>
          </a:xfrm>
          <a:prstGeom prst="line">
            <a:avLst/>
          </a:prstGeom>
          <a:ln w="16510">
            <a:solidFill>
              <a:srgbClr val="167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104120" y="2331720"/>
            <a:ext cx="1600200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58984" y="2432303"/>
            <a:ext cx="149047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复购运营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703320"/>
            <a:ext cx="34747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3703320"/>
            <a:ext cx="73152" cy="1691640"/>
          </a:xfrm>
          <a:prstGeom prst="rect">
            <a:avLst/>
          </a:prstGeom>
          <a:solidFill>
            <a:srgbClr val="C4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3840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不是什么</a:t>
            </a:r>
          </a:p>
        </p:txBody>
      </p:sp>
      <p:sp>
        <p:nvSpPr>
          <p:cNvPr id="28" name="Oval 27"/>
          <p:cNvSpPr/>
          <p:nvPr/>
        </p:nvSpPr>
        <p:spPr>
          <a:xfrm>
            <a:off x="1024128" y="4315968"/>
            <a:ext cx="109728" cy="109728"/>
          </a:xfrm>
          <a:prstGeom prst="ellipse">
            <a:avLst/>
          </a:prstGeom>
          <a:solidFill>
            <a:srgbClr val="C4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07008" y="427024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不是二维码生成器</a:t>
            </a:r>
          </a:p>
        </p:txBody>
      </p:sp>
      <p:sp>
        <p:nvSpPr>
          <p:cNvPr id="30" name="Oval 29"/>
          <p:cNvSpPr/>
          <p:nvPr/>
        </p:nvSpPr>
        <p:spPr>
          <a:xfrm>
            <a:off x="1024128" y="4700016"/>
            <a:ext cx="109728" cy="109728"/>
          </a:xfrm>
          <a:prstGeom prst="ellipse">
            <a:avLst/>
          </a:prstGeom>
          <a:solidFill>
            <a:srgbClr val="C4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07008" y="4654296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不是重型溯源系统</a:t>
            </a:r>
          </a:p>
        </p:txBody>
      </p:sp>
      <p:sp>
        <p:nvSpPr>
          <p:cNvPr id="32" name="Oval 31"/>
          <p:cNvSpPr/>
          <p:nvPr/>
        </p:nvSpPr>
        <p:spPr>
          <a:xfrm>
            <a:off x="1024128" y="5084064"/>
            <a:ext cx="109728" cy="109728"/>
          </a:xfrm>
          <a:prstGeom prst="ellipse">
            <a:avLst/>
          </a:prstGeom>
          <a:solidFill>
            <a:srgbClr val="C4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07008" y="5038344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不是完整电商商城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3703320"/>
            <a:ext cx="34747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34840" y="3703320"/>
            <a:ext cx="73152" cy="1691640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9431" y="3840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是什么</a:t>
            </a:r>
          </a:p>
        </p:txBody>
      </p:sp>
      <p:sp>
        <p:nvSpPr>
          <p:cNvPr id="37" name="Oval 36"/>
          <p:cNvSpPr/>
          <p:nvPr/>
        </p:nvSpPr>
        <p:spPr>
          <a:xfrm>
            <a:off x="4636007" y="4315968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18888" y="427024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包装码数字身份</a:t>
            </a:r>
          </a:p>
        </p:txBody>
      </p:sp>
      <p:sp>
        <p:nvSpPr>
          <p:cNvPr id="39" name="Oval 38"/>
          <p:cNvSpPr/>
          <p:nvPr/>
        </p:nvSpPr>
        <p:spPr>
          <a:xfrm>
            <a:off x="4636007" y="4700016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18888" y="4654296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扫码营销入口</a:t>
            </a:r>
          </a:p>
        </p:txBody>
      </p:sp>
      <p:sp>
        <p:nvSpPr>
          <p:cNvPr id="41" name="Oval 40"/>
          <p:cNvSpPr/>
          <p:nvPr/>
        </p:nvSpPr>
        <p:spPr>
          <a:xfrm>
            <a:off x="4636007" y="5084064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18888" y="5038344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用户资产入口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3703320"/>
            <a:ext cx="34747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0" y="3703320"/>
            <a:ext cx="73152" cy="1691640"/>
          </a:xfrm>
          <a:prstGeom prst="rect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11312" y="3840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怎么交付</a:t>
            </a:r>
          </a:p>
        </p:txBody>
      </p:sp>
      <p:sp>
        <p:nvSpPr>
          <p:cNvPr id="46" name="Oval 45"/>
          <p:cNvSpPr/>
          <p:nvPr/>
        </p:nvSpPr>
        <p:spPr>
          <a:xfrm>
            <a:off x="8247888" y="4315968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30768" y="427024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标准 SaaS</a:t>
            </a:r>
          </a:p>
        </p:txBody>
      </p:sp>
      <p:sp>
        <p:nvSpPr>
          <p:cNvPr id="48" name="Oval 47"/>
          <p:cNvSpPr/>
          <p:nvPr/>
        </p:nvSpPr>
        <p:spPr>
          <a:xfrm>
            <a:off x="8247888" y="4700016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30768" y="4654296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行业模板</a:t>
            </a:r>
          </a:p>
        </p:txBody>
      </p:sp>
      <p:sp>
        <p:nvSpPr>
          <p:cNvPr id="50" name="Oval 49"/>
          <p:cNvSpPr/>
          <p:nvPr/>
        </p:nvSpPr>
        <p:spPr>
          <a:xfrm>
            <a:off x="8247888" y="5084064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30768" y="5038344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代运营配置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326"/>
                </a:solidFill>
                <a:latin typeface="Microsoft YaHei"/>
              </a:defRPr>
            </a:pPr>
            <a:r>
              <a:t>04｜独立闭环，不依赖 GTS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658368" cy="54864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C74"/>
                </a:solidFill>
                <a:latin typeface="Microsoft YaHei"/>
              </a:defRPr>
            </a:pPr>
            <a:r>
              <a:t>一码通可以单独购买、单独开通、单独上线。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320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C74"/>
                </a:solidFill>
                <a:latin typeface="Microsoft YaHei"/>
              </a:defRPr>
            </a:pPr>
            <a:r>
              <a:t>一码通 · 包装扫码增长 SaaS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4389120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C2326"/>
                </a:solidFill>
                <a:latin typeface="Microsoft YaHei"/>
              </a:defRPr>
            </a:pPr>
            <a:r>
              <a:t>独立闭环能力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20240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E6C74"/>
                </a:solidFill>
                <a:latin typeface="Microsoft YaHei"/>
              </a:defRPr>
            </a:pPr>
            <a:r>
              <a:t>一码通自身包含产品资料、码管理、H5 页面、权益活动、私域承接、用户授权、数据看板、轻量验真和代运营工作台。即使客户没有任何既有溯源系统，也可以上线扫码增长闭环。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73152" cy="4389120"/>
          </a:xfrm>
          <a:prstGeom prst="rect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C2326"/>
                </a:solidFill>
                <a:latin typeface="Microsoft YaHei"/>
              </a:defRPr>
            </a:pPr>
            <a:r>
              <a:t>可选联动能力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1920240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E6C74"/>
                </a:solidFill>
                <a:latin typeface="Microsoft YaHei"/>
              </a:defRPr>
            </a:pPr>
            <a:r>
              <a:t>如果客户已有食链通、GTS、ERP、商城或 CRM，一码通可以通过导入、API 或 Webhook 进行数据联动，用更完整的追溯数据和订单数据增强扫码页和归因。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97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C2326"/>
                </a:solidFill>
                <a:latin typeface="Microsoft YaHei"/>
              </a:defRPr>
            </a:pPr>
            <a:r>
              <a:t>对外主张：独立产品。对内策略：可集成生态。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326"/>
                </a:solidFill>
                <a:latin typeface="Microsoft YaHei"/>
              </a:defRPr>
            </a:pPr>
            <a:r>
              <a:t>05｜消费者扫码旅程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658368" cy="54864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C74"/>
                </a:solidFill>
                <a:latin typeface="Microsoft YaHei"/>
              </a:defRPr>
            </a:pPr>
            <a:r>
              <a:t>先信任，再权益，再连接，再复购。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320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C74"/>
                </a:solidFill>
                <a:latin typeface="Microsoft YaHei"/>
              </a:defRPr>
            </a:pPr>
            <a:r>
              <a:t>一码通 · 包装扫码增长 SaaS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572768" cy="713232"/>
          </a:xfrm>
          <a:prstGeom prst="roundRect">
            <a:avLst/>
          </a:prstGeom>
          <a:solidFill>
            <a:srgbClr val="F4F8F6"/>
          </a:solidFill>
          <a:ln w="15240">
            <a:solidFill>
              <a:srgbClr val="16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63624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看到包装码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04288" y="1819656"/>
            <a:ext cx="246888" cy="0"/>
          </a:xfrm>
          <a:prstGeom prst="line">
            <a:avLst/>
          </a:prstGeom>
          <a:ln w="16510">
            <a:solidFill>
              <a:srgbClr val="167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51176" y="1463040"/>
            <a:ext cx="1572768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563624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扫码打开 H5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23944" y="1819656"/>
            <a:ext cx="246887" cy="0"/>
          </a:xfrm>
          <a:prstGeom prst="line">
            <a:avLst/>
          </a:prstGeom>
          <a:ln w="16510">
            <a:solidFill>
              <a:srgbClr val="167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70832" y="1463040"/>
            <a:ext cx="1572768" cy="713232"/>
          </a:xfrm>
          <a:prstGeom prst="roundRect">
            <a:avLst/>
          </a:prstGeom>
          <a:solidFill>
            <a:srgbClr val="F4F8F6"/>
          </a:solidFill>
          <a:ln w="15240">
            <a:solidFill>
              <a:srgbClr val="16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5696" y="1563624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查看产品信任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0" y="1819656"/>
            <a:ext cx="246888" cy="0"/>
          </a:xfrm>
          <a:prstGeom prst="line">
            <a:avLst/>
          </a:prstGeom>
          <a:ln w="16510">
            <a:solidFill>
              <a:srgbClr val="167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90488" y="1463040"/>
            <a:ext cx="1572768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5351" y="1563624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领取权益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63256" y="1819656"/>
            <a:ext cx="246888" cy="0"/>
          </a:xfrm>
          <a:prstGeom prst="line">
            <a:avLst/>
          </a:prstGeom>
          <a:ln w="16510">
            <a:solidFill>
              <a:srgbClr val="167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010144" y="1463040"/>
            <a:ext cx="1572768" cy="713232"/>
          </a:xfrm>
          <a:prstGeom prst="roundRect">
            <a:avLst/>
          </a:prstGeom>
          <a:solidFill>
            <a:srgbClr val="F4F8F6"/>
          </a:solidFill>
          <a:ln w="15240">
            <a:solidFill>
              <a:srgbClr val="16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5008" y="1563624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加企微/跳商城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82912" y="1819656"/>
            <a:ext cx="246888" cy="0"/>
          </a:xfrm>
          <a:prstGeom prst="line">
            <a:avLst/>
          </a:prstGeom>
          <a:ln w="16510">
            <a:solidFill>
              <a:srgbClr val="167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29800" y="1463040"/>
            <a:ext cx="1572768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84664" y="1563624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复购归因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2788920"/>
            <a:ext cx="34290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2788920"/>
            <a:ext cx="73152" cy="2423160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2926079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降低门槛</a:t>
            </a:r>
          </a:p>
        </p:txBody>
      </p:sp>
      <p:sp>
        <p:nvSpPr>
          <p:cNvPr id="27" name="Oval 26"/>
          <p:cNvSpPr/>
          <p:nvPr/>
        </p:nvSpPr>
        <p:spPr>
          <a:xfrm>
            <a:off x="932688" y="3401568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33558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通用 HTTPS 二维码</a:t>
            </a:r>
          </a:p>
        </p:txBody>
      </p:sp>
      <p:sp>
        <p:nvSpPr>
          <p:cNvPr id="29" name="Oval 28"/>
          <p:cNvSpPr/>
          <p:nvPr/>
        </p:nvSpPr>
        <p:spPr>
          <a:xfrm>
            <a:off x="932688" y="3785615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373989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微信/相机/支付宝可扫</a:t>
            </a:r>
          </a:p>
        </p:txBody>
      </p:sp>
      <p:sp>
        <p:nvSpPr>
          <p:cNvPr id="31" name="Oval 30"/>
          <p:cNvSpPr/>
          <p:nvPr/>
        </p:nvSpPr>
        <p:spPr>
          <a:xfrm>
            <a:off x="932688" y="4169663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" y="412394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溯源展示免登录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2788920"/>
            <a:ext cx="34290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89120" y="2788920"/>
            <a:ext cx="73152" cy="2423160"/>
          </a:xfrm>
          <a:prstGeom prst="rect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53712" y="2926079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提高动机</a:t>
            </a:r>
          </a:p>
        </p:txBody>
      </p:sp>
      <p:sp>
        <p:nvSpPr>
          <p:cNvPr id="36" name="Oval 35"/>
          <p:cNvSpPr/>
          <p:nvPr/>
        </p:nvSpPr>
        <p:spPr>
          <a:xfrm>
            <a:off x="4590288" y="3401568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73168" y="33558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首扫礼/复购券</a:t>
            </a:r>
          </a:p>
        </p:txBody>
      </p:sp>
      <p:sp>
        <p:nvSpPr>
          <p:cNvPr id="38" name="Oval 37"/>
          <p:cNvSpPr/>
          <p:nvPr/>
        </p:nvSpPr>
        <p:spPr>
          <a:xfrm>
            <a:off x="4590288" y="3785615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73168" y="373989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积分/抽奖/礼品</a:t>
            </a:r>
          </a:p>
        </p:txBody>
      </p:sp>
      <p:sp>
        <p:nvSpPr>
          <p:cNvPr id="40" name="Oval 39"/>
          <p:cNvSpPr/>
          <p:nvPr/>
        </p:nvSpPr>
        <p:spPr>
          <a:xfrm>
            <a:off x="4590288" y="4169663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73168" y="412394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检测报告与产地故事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2788920"/>
            <a:ext cx="34290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46720" y="2788920"/>
            <a:ext cx="73152" cy="2423160"/>
          </a:xfrm>
          <a:prstGeom prst="rect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11312" y="2926079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沉淀数据</a:t>
            </a:r>
          </a:p>
        </p:txBody>
      </p:sp>
      <p:sp>
        <p:nvSpPr>
          <p:cNvPr id="45" name="Oval 44"/>
          <p:cNvSpPr/>
          <p:nvPr/>
        </p:nvSpPr>
        <p:spPr>
          <a:xfrm>
            <a:off x="8247888" y="3401568"/>
            <a:ext cx="109728" cy="109728"/>
          </a:xfrm>
          <a:prstGeom prst="ellipse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30768" y="33558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产品/批次/渠道来源</a:t>
            </a:r>
          </a:p>
        </p:txBody>
      </p:sp>
      <p:sp>
        <p:nvSpPr>
          <p:cNvPr id="47" name="Oval 46"/>
          <p:cNvSpPr/>
          <p:nvPr/>
        </p:nvSpPr>
        <p:spPr>
          <a:xfrm>
            <a:off x="8247888" y="3785615"/>
            <a:ext cx="109728" cy="109728"/>
          </a:xfrm>
          <a:prstGeom prst="ellipse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30768" y="373989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领券/留资/加微</a:t>
            </a:r>
          </a:p>
        </p:txBody>
      </p:sp>
      <p:sp>
        <p:nvSpPr>
          <p:cNvPr id="49" name="Oval 48"/>
          <p:cNvSpPr/>
          <p:nvPr/>
        </p:nvSpPr>
        <p:spPr>
          <a:xfrm>
            <a:off x="8247888" y="4169663"/>
            <a:ext cx="109728" cy="109728"/>
          </a:xfrm>
          <a:prstGeom prst="ellipse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30768" y="412394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跳转/核销/成交归因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326"/>
                </a:solidFill>
                <a:latin typeface="Microsoft YaHei"/>
              </a:defRPr>
            </a:pPr>
            <a:r>
              <a:t>06｜产品能力地图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658368" cy="54864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C74"/>
                </a:solidFill>
                <a:latin typeface="Microsoft YaHei"/>
              </a:defRPr>
            </a:pPr>
            <a:r>
              <a:t>从“码”到“增长”的一体化能力。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320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C74"/>
                </a:solidFill>
                <a:latin typeface="Microsoft YaHei"/>
              </a:defRPr>
            </a:pPr>
            <a:r>
              <a:t>一码通 · 包装扫码增长 SaaS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73152" cy="1417320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463039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码管理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874519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E6C74"/>
                </a:solidFill>
                <a:latin typeface="Microsoft YaHei"/>
              </a:defRPr>
            </a:pPr>
            <a:r>
              <a:t>批次码、一物一码、双码、既有码接管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32588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325880"/>
            <a:ext cx="73152" cy="1417320"/>
          </a:xfrm>
          <a:prstGeom prst="rect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1463039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页面引擎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1874519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E6C74"/>
                </a:solidFill>
                <a:latin typeface="Microsoft YaHei"/>
              </a:defRPr>
            </a:pPr>
            <a:r>
              <a:t>模块化 H5、行业模板、版本发布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32588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325880"/>
            <a:ext cx="73152" cy="1417320"/>
          </a:xfrm>
          <a:prstGeom prst="rect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463039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轻量溯源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1874519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E6C74"/>
                </a:solidFill>
                <a:latin typeface="Microsoft YaHei"/>
              </a:defRPr>
            </a:pPr>
            <a:r>
              <a:t>产地、批次、检测报告、资质证书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32588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325880"/>
            <a:ext cx="73152" cy="1417320"/>
          </a:xfrm>
          <a:prstGeom prst="rect">
            <a:avLst/>
          </a:prstGeom>
          <a:solidFill>
            <a:srgbClr val="C4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0032" y="1463039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权益活动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0032" y="1874519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E6C74"/>
                </a:solidFill>
                <a:latin typeface="Microsoft YaHei"/>
              </a:defRPr>
            </a:pPr>
            <a:r>
              <a:t>优惠券、积分、礼品、抽奖、表单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24612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246120"/>
            <a:ext cx="73152" cy="1417320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383279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私域承接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794759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E6C74"/>
                </a:solidFill>
                <a:latin typeface="Microsoft YaHei"/>
              </a:defRPr>
            </a:pPr>
            <a:r>
              <a:t>企微、公众号、小程序、电商店铺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324612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66160" y="3246120"/>
            <a:ext cx="73152" cy="1417320"/>
          </a:xfrm>
          <a:prstGeom prst="rect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0752" y="3383279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数据看板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0752" y="3794759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E6C74"/>
                </a:solidFill>
                <a:latin typeface="Microsoft YaHei"/>
              </a:defRPr>
            </a:pPr>
            <a:r>
              <a:t>经营、活动、渠道风控、区域品牌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24612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3246120"/>
            <a:ext cx="73152" cy="1417320"/>
          </a:xfrm>
          <a:prstGeom prst="rect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3383279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轻量风控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3794759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E6C74"/>
                </a:solidFill>
                <a:latin typeface="Microsoft YaHei"/>
              </a:defRPr>
            </a:pPr>
            <a:r>
              <a:t>首扫、重扫、多地、跨区、刷码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324612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35440" y="3246120"/>
            <a:ext cx="73152" cy="1417320"/>
          </a:xfrm>
          <a:prstGeom prst="rect">
            <a:avLst/>
          </a:prstGeom>
          <a:solidFill>
            <a:srgbClr val="C4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00032" y="3383279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代运营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00032" y="3794759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E6C74"/>
                </a:solidFill>
                <a:latin typeface="Microsoft YaHei"/>
              </a:defRPr>
            </a:pPr>
            <a:r>
              <a:t>资料、页面、活动、印刷对接、复盘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C2326"/>
                </a:solidFill>
                <a:latin typeface="Microsoft YaHei"/>
              </a:defRPr>
            </a:pPr>
            <a:r>
              <a:t>价值：让包装码从“展示入口”升级为“可配置、可追踪、可复购、可运营”的增长系统。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326"/>
                </a:solidFill>
                <a:latin typeface="Microsoft YaHei"/>
              </a:defRPr>
            </a:pPr>
            <a:r>
              <a:t>07｜码策略：按场景选择，不一刀切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658368" cy="54864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C74"/>
                </a:solidFill>
                <a:latin typeface="Microsoft YaHei"/>
              </a:defRPr>
            </a:pPr>
            <a:r>
              <a:t>批次码、一物一码、外码/内码双码，全部纳入规划。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320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C74"/>
                </a:solidFill>
                <a:latin typeface="Microsoft YaHei"/>
              </a:defRPr>
            </a:pPr>
            <a:r>
              <a:t>一码通 · 包装扫码增长 SaaS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6060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73152" cy="3931920"/>
          </a:xfrm>
          <a:prstGeom prst="rect">
            <a:avLst/>
          </a:prstGeom>
          <a:solidFill>
            <a:srgbClr val="5E6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544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C2326"/>
                </a:solidFill>
                <a:latin typeface="Microsoft YaHei"/>
              </a:defRPr>
            </a:pPr>
            <a:r>
              <a:t>批次码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65960"/>
            <a:ext cx="228600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E6C74"/>
                </a:solidFill>
                <a:latin typeface="Microsoft YaHei"/>
              </a:defRPr>
            </a:pPr>
            <a:r>
              <a:t>一个批次一个码。适合低成本展示产地、批次、检测报告和资质证书。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417320"/>
            <a:ext cx="26060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1417320"/>
            <a:ext cx="73152" cy="3931920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15544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C2326"/>
                </a:solidFill>
                <a:latin typeface="Microsoft YaHei"/>
              </a:defRPr>
            </a:pPr>
            <a:r>
              <a:t>一物一码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1965960"/>
            <a:ext cx="228600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E6C74"/>
                </a:solidFill>
                <a:latin typeface="Microsoft YaHei"/>
              </a:defRPr>
            </a:pPr>
            <a:r>
              <a:t>一个最小销售包装一个唯一二维码。适合领券、积分、首扫、重扫、用户画像和复购归因。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417320"/>
            <a:ext cx="26060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417320"/>
            <a:ext cx="73152" cy="3931920"/>
          </a:xfrm>
          <a:prstGeom prst="rect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5544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C2326"/>
                </a:solidFill>
                <a:latin typeface="Microsoft YaHei"/>
              </a:defRPr>
            </a:pPr>
            <a:r>
              <a:t>外码 + 内码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1965960"/>
            <a:ext cx="228600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E6C74"/>
                </a:solidFill>
                <a:latin typeface="Microsoft YaHei"/>
              </a:defRPr>
            </a:pPr>
            <a:r>
              <a:t>外码做展示与引流，内码做验真、领奖和积分。适合高价值礼盒、茶叶、酒水等。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417320"/>
            <a:ext cx="26060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417320"/>
            <a:ext cx="73152" cy="3931920"/>
          </a:xfrm>
          <a:prstGeom prst="rect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2872" y="15544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C2326"/>
                </a:solidFill>
                <a:latin typeface="Microsoft YaHei"/>
              </a:defRPr>
            </a:pPr>
            <a:r>
              <a:t>箱码 + 单品码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1965960"/>
            <a:ext cx="228600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E6C74"/>
                </a:solidFill>
                <a:latin typeface="Microsoft YaHei"/>
              </a:defRPr>
            </a:pPr>
            <a:r>
              <a:t>箱码绑定渠道流向，单品码绑定消费者行为。适合经销商管理和防窜扩展。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150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44E45"/>
                </a:solidFill>
                <a:latin typeface="Microsoft YaHei"/>
              </a:defRPr>
            </a:pPr>
            <a:r>
              <a:t>防伪边界：普通二维码不能绝对防伪；一物一码 + 扫码行为分析可以做轻量验真和异常预警。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326"/>
                </a:solidFill>
                <a:latin typeface="Microsoft YaHei"/>
              </a:defRPr>
            </a:pPr>
            <a:r>
              <a:t>08｜真实落地：码怎么到包装上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658368" cy="54864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C74"/>
                </a:solidFill>
                <a:latin typeface="Microsoft YaHei"/>
              </a:defRPr>
            </a:pPr>
            <a:r>
              <a:t>一码通负责码和配置，不直接变成印刷供应链公司。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320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C74"/>
                </a:solidFill>
                <a:latin typeface="Microsoft YaHei"/>
              </a:defRPr>
            </a:pPr>
            <a:r>
              <a:t>一码通 · 包装扫码增长 SaaS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73152" cy="3337560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54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标签贴码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029967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1984248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最快试点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14015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368296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适合旧包装库存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2798063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275234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中小品牌和农产品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3182111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136391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人工或贴标机执行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1417320"/>
            <a:ext cx="33832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1417320"/>
            <a:ext cx="73152" cy="3337560"/>
          </a:xfrm>
          <a:prstGeom prst="rect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1554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可变数据印刷</a:t>
            </a:r>
          </a:p>
        </p:txBody>
      </p:sp>
      <p:sp>
        <p:nvSpPr>
          <p:cNvPr id="21" name="Oval 20"/>
          <p:cNvSpPr/>
          <p:nvPr/>
        </p:nvSpPr>
        <p:spPr>
          <a:xfrm>
            <a:off x="4590288" y="2029967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73168" y="1984248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包装袋直接印一物一码</a:t>
            </a:r>
          </a:p>
        </p:txBody>
      </p:sp>
      <p:sp>
        <p:nvSpPr>
          <p:cNvPr id="23" name="Oval 22"/>
          <p:cNvSpPr/>
          <p:nvPr/>
        </p:nvSpPr>
        <p:spPr>
          <a:xfrm>
            <a:off x="4590288" y="2414015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2368296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适合稳定 SKU 和大批量</a:t>
            </a:r>
          </a:p>
        </p:txBody>
      </p:sp>
      <p:sp>
        <p:nvSpPr>
          <p:cNvPr id="25" name="Oval 24"/>
          <p:cNvSpPr/>
          <p:nvPr/>
        </p:nvSpPr>
        <p:spPr>
          <a:xfrm>
            <a:off x="4590288" y="2798063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275234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印刷厂导入码包</a:t>
            </a:r>
          </a:p>
        </p:txBody>
      </p:sp>
      <p:sp>
        <p:nvSpPr>
          <p:cNvPr id="27" name="Oval 26"/>
          <p:cNvSpPr/>
          <p:nvPr/>
        </p:nvSpPr>
        <p:spPr>
          <a:xfrm>
            <a:off x="4590288" y="3182111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73168" y="3136391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美观、规模化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1417320"/>
            <a:ext cx="33832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1417320"/>
            <a:ext cx="73152" cy="3337560"/>
          </a:xfrm>
          <a:prstGeom prst="rect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1312" y="1554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产线喷码/赋码</a:t>
            </a:r>
          </a:p>
        </p:txBody>
      </p:sp>
      <p:sp>
        <p:nvSpPr>
          <p:cNvPr id="32" name="Oval 31"/>
          <p:cNvSpPr/>
          <p:nvPr/>
        </p:nvSpPr>
        <p:spPr>
          <a:xfrm>
            <a:off x="8247888" y="2029967"/>
            <a:ext cx="109728" cy="109728"/>
          </a:xfrm>
          <a:prstGeom prst="ellipse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30768" y="1984248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喷码机/激光打码</a:t>
            </a:r>
          </a:p>
        </p:txBody>
      </p:sp>
      <p:sp>
        <p:nvSpPr>
          <p:cNvPr id="34" name="Oval 33"/>
          <p:cNvSpPr/>
          <p:nvPr/>
        </p:nvSpPr>
        <p:spPr>
          <a:xfrm>
            <a:off x="8247888" y="2414015"/>
            <a:ext cx="109728" cy="109728"/>
          </a:xfrm>
          <a:prstGeom prst="ellipse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0768" y="2368296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适合中大型工厂</a:t>
            </a:r>
          </a:p>
        </p:txBody>
      </p:sp>
      <p:sp>
        <p:nvSpPr>
          <p:cNvPr id="36" name="Oval 35"/>
          <p:cNvSpPr/>
          <p:nvPr/>
        </p:nvSpPr>
        <p:spPr>
          <a:xfrm>
            <a:off x="8247888" y="2798063"/>
            <a:ext cx="109728" cy="109728"/>
          </a:xfrm>
          <a:prstGeom prst="ellipse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0768" y="275234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可绑定产线与批次</a:t>
            </a:r>
          </a:p>
        </p:txBody>
      </p:sp>
      <p:sp>
        <p:nvSpPr>
          <p:cNvPr id="38" name="Oval 37"/>
          <p:cNvSpPr/>
          <p:nvPr/>
        </p:nvSpPr>
        <p:spPr>
          <a:xfrm>
            <a:off x="8247888" y="3182111"/>
            <a:ext cx="109728" cy="109728"/>
          </a:xfrm>
          <a:prstGeom prst="ellipse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30768" y="3136391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自动化程度高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C2326"/>
                </a:solidFill>
                <a:latin typeface="Microsoft YaHei"/>
              </a:defRPr>
            </a:pPr>
            <a:r>
              <a:t>交付服务覆盖：码包生成、标签文件、印刷数据包、喷码对接、码段激活、异常作废。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326"/>
                </a:solidFill>
                <a:latin typeface="Microsoft YaHei"/>
              </a:defRPr>
            </a:pPr>
            <a:r>
              <a:t>09｜H5 扫码页：不是静态页面，是页面引擎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658368" cy="54864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C74"/>
                </a:solidFill>
                <a:latin typeface="Microsoft YaHei"/>
              </a:defRPr>
            </a:pPr>
            <a:r>
              <a:t>模块化模板 + 行业模板 + 版本管理。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320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C74"/>
                </a:solidFill>
                <a:latin typeface="Microsoft YaHei"/>
              </a:defRPr>
            </a:pPr>
            <a:r>
              <a:t>一码通 · 包装扫码增长 SaaS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572768" cy="658368"/>
          </a:xfrm>
          <a:prstGeom prst="roundRect">
            <a:avLst/>
          </a:prstGeom>
          <a:solidFill>
            <a:srgbClr val="F4F8F6"/>
          </a:solidFill>
          <a:ln w="15240">
            <a:solidFill>
              <a:srgbClr val="16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42646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品牌头图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04288" y="1655064"/>
            <a:ext cx="246888" cy="0"/>
          </a:xfrm>
          <a:prstGeom prst="line">
            <a:avLst/>
          </a:prstGeom>
          <a:ln w="16510">
            <a:solidFill>
              <a:srgbClr val="167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51176" y="1325880"/>
            <a:ext cx="1572768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42646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验真状态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23944" y="1655064"/>
            <a:ext cx="246887" cy="0"/>
          </a:xfrm>
          <a:prstGeom prst="line">
            <a:avLst/>
          </a:prstGeom>
          <a:ln w="16510">
            <a:solidFill>
              <a:srgbClr val="167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70832" y="1325880"/>
            <a:ext cx="1572768" cy="658368"/>
          </a:xfrm>
          <a:prstGeom prst="roundRect">
            <a:avLst/>
          </a:prstGeom>
          <a:solidFill>
            <a:srgbClr val="F4F8F6"/>
          </a:solidFill>
          <a:ln w="15240">
            <a:solidFill>
              <a:srgbClr val="16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5696" y="142646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轻量溯源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0" y="1655064"/>
            <a:ext cx="246888" cy="0"/>
          </a:xfrm>
          <a:prstGeom prst="line">
            <a:avLst/>
          </a:prstGeom>
          <a:ln w="16510">
            <a:solidFill>
              <a:srgbClr val="167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90488" y="1325880"/>
            <a:ext cx="1572768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5351" y="142646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检测证书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63256" y="1655064"/>
            <a:ext cx="246888" cy="0"/>
          </a:xfrm>
          <a:prstGeom prst="line">
            <a:avLst/>
          </a:prstGeom>
          <a:ln w="16510">
            <a:solidFill>
              <a:srgbClr val="167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010144" y="1325880"/>
            <a:ext cx="1572768" cy="658368"/>
          </a:xfrm>
          <a:prstGeom prst="roundRect">
            <a:avLst/>
          </a:prstGeom>
          <a:solidFill>
            <a:srgbClr val="F4F8F6"/>
          </a:solidFill>
          <a:ln w="15240">
            <a:solidFill>
              <a:srgbClr val="16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5008" y="142646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优惠权益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82912" y="1655064"/>
            <a:ext cx="246888" cy="0"/>
          </a:xfrm>
          <a:prstGeom prst="line">
            <a:avLst/>
          </a:prstGeom>
          <a:ln w="16510">
            <a:solidFill>
              <a:srgbClr val="167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29800" y="1325880"/>
            <a:ext cx="1572768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84664" y="142646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私域/购买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2697480"/>
            <a:ext cx="33375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2697480"/>
            <a:ext cx="73152" cy="2240280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283464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C2326"/>
                </a:solidFill>
                <a:latin typeface="Microsoft YaHei"/>
              </a:defRPr>
            </a:pPr>
            <a:r>
              <a:t>模块化配置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3246120"/>
            <a:ext cx="3017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C74"/>
                </a:solidFill>
                <a:latin typeface="Microsoft YaHei"/>
              </a:defRPr>
            </a:pPr>
            <a:r>
              <a:t>模块开关、排序、内容配置。避免重型拖拽编辑器，让页面保持可控、可复用、可批量运营。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2697480"/>
            <a:ext cx="33375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34840" y="2697480"/>
            <a:ext cx="73152" cy="2240280"/>
          </a:xfrm>
          <a:prstGeom prst="rect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9431" y="283464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C2326"/>
                </a:solidFill>
                <a:latin typeface="Microsoft YaHei"/>
              </a:defRPr>
            </a:pPr>
            <a:r>
              <a:t>行业模板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1" y="3246120"/>
            <a:ext cx="3017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C74"/>
                </a:solidFill>
                <a:latin typeface="Microsoft YaHei"/>
              </a:defRPr>
            </a:pPr>
            <a:r>
              <a:t>食品、农产品、茶叶、大米、水果、调味品、预制菜、礼盒、区域品牌。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2697480"/>
            <a:ext cx="33375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92440" y="2697480"/>
            <a:ext cx="73152" cy="2240280"/>
          </a:xfrm>
          <a:prstGeom prst="rect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57031" y="283464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C2326"/>
                </a:solidFill>
                <a:latin typeface="Microsoft YaHei"/>
              </a:defRPr>
            </a:pPr>
            <a:r>
              <a:t>长期有效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1" y="3246120"/>
            <a:ext cx="3017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C74"/>
                </a:solidFill>
                <a:latin typeface="Microsoft YaHei"/>
              </a:defRPr>
            </a:pPr>
            <a:r>
              <a:t>二维码长期印在包装上，页面通过版本管理、活动期切换和规则动态展示持续更新。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326"/>
                </a:solidFill>
                <a:latin typeface="Microsoft YaHei"/>
              </a:defRPr>
            </a:pPr>
            <a:r>
              <a:t>10｜营销转化：扫码后必须有下一步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658368" cy="54864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C74"/>
                </a:solidFill>
                <a:latin typeface="Microsoft YaHei"/>
              </a:defRPr>
            </a:pPr>
            <a:r>
              <a:t>权益不是目的，复购和私域连接才是目的。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320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C74"/>
                </a:solidFill>
                <a:latin typeface="Microsoft YaHei"/>
              </a:defRPr>
            </a:pPr>
            <a:r>
              <a:t>一码通 · 包装扫码增长 SaaS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3375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73152" cy="3611880"/>
          </a:xfrm>
          <a:prstGeom prst="rect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4630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权益类型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1938527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189280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优惠券/复购券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322575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2768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积分/兑换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2706623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266090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礼品/抽奖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3090672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044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私域福利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3474720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线下核销权益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1325880"/>
            <a:ext cx="33375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1325880"/>
            <a:ext cx="73152" cy="3611880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9431" y="14630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承接方式</a:t>
            </a:r>
          </a:p>
        </p:txBody>
      </p:sp>
      <p:sp>
        <p:nvSpPr>
          <p:cNvPr id="23" name="Oval 22"/>
          <p:cNvSpPr/>
          <p:nvPr/>
        </p:nvSpPr>
        <p:spPr>
          <a:xfrm>
            <a:off x="4636007" y="1938527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18888" y="189280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企业微信</a:t>
            </a:r>
          </a:p>
        </p:txBody>
      </p:sp>
      <p:sp>
        <p:nvSpPr>
          <p:cNvPr id="25" name="Oval 24"/>
          <p:cNvSpPr/>
          <p:nvPr/>
        </p:nvSpPr>
        <p:spPr>
          <a:xfrm>
            <a:off x="4636007" y="2322575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18888" y="22768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公众号</a:t>
            </a:r>
          </a:p>
        </p:txBody>
      </p:sp>
      <p:sp>
        <p:nvSpPr>
          <p:cNvPr id="27" name="Oval 26"/>
          <p:cNvSpPr/>
          <p:nvPr/>
        </p:nvSpPr>
        <p:spPr>
          <a:xfrm>
            <a:off x="4636007" y="2706623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18888" y="266090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小程序</a:t>
            </a:r>
          </a:p>
        </p:txBody>
      </p:sp>
      <p:sp>
        <p:nvSpPr>
          <p:cNvPr id="29" name="Oval 28"/>
          <p:cNvSpPr/>
          <p:nvPr/>
        </p:nvSpPr>
        <p:spPr>
          <a:xfrm>
            <a:off x="4636007" y="3090672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18888" y="3044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电商店铺</a:t>
            </a:r>
          </a:p>
        </p:txBody>
      </p:sp>
      <p:sp>
        <p:nvSpPr>
          <p:cNvPr id="31" name="Oval 30"/>
          <p:cNvSpPr/>
          <p:nvPr/>
        </p:nvSpPr>
        <p:spPr>
          <a:xfrm>
            <a:off x="4636007" y="3474720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18888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留资表单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1325880"/>
            <a:ext cx="33375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1325880"/>
            <a:ext cx="73152" cy="3611880"/>
          </a:xfrm>
          <a:prstGeom prst="rect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2" y="14630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归因数据</a:t>
            </a:r>
          </a:p>
        </p:txBody>
      </p:sp>
      <p:sp>
        <p:nvSpPr>
          <p:cNvPr id="36" name="Oval 35"/>
          <p:cNvSpPr/>
          <p:nvPr/>
        </p:nvSpPr>
        <p:spPr>
          <a:xfrm>
            <a:off x="8339328" y="1938527"/>
            <a:ext cx="109728" cy="109728"/>
          </a:xfrm>
          <a:prstGeom prst="ellipse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22208" y="189280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产品/批次来源</a:t>
            </a:r>
          </a:p>
        </p:txBody>
      </p:sp>
      <p:sp>
        <p:nvSpPr>
          <p:cNvPr id="38" name="Oval 37"/>
          <p:cNvSpPr/>
          <p:nvPr/>
        </p:nvSpPr>
        <p:spPr>
          <a:xfrm>
            <a:off x="8339328" y="2322575"/>
            <a:ext cx="109728" cy="109728"/>
          </a:xfrm>
          <a:prstGeom prst="ellipse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22208" y="22768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渠道/门店/导购</a:t>
            </a:r>
          </a:p>
        </p:txBody>
      </p:sp>
      <p:sp>
        <p:nvSpPr>
          <p:cNvPr id="40" name="Oval 39"/>
          <p:cNvSpPr/>
          <p:nvPr/>
        </p:nvSpPr>
        <p:spPr>
          <a:xfrm>
            <a:off x="8339328" y="2706623"/>
            <a:ext cx="109728" cy="109728"/>
          </a:xfrm>
          <a:prstGeom prst="ellipse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22208" y="266090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领券与核销</a:t>
            </a:r>
          </a:p>
        </p:txBody>
      </p:sp>
      <p:sp>
        <p:nvSpPr>
          <p:cNvPr id="42" name="Oval 41"/>
          <p:cNvSpPr/>
          <p:nvPr/>
        </p:nvSpPr>
        <p:spPr>
          <a:xfrm>
            <a:off x="8339328" y="3090672"/>
            <a:ext cx="109728" cy="109728"/>
          </a:xfrm>
          <a:prstGeom prst="ellipse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22208" y="3044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跳转与成交导入</a:t>
            </a:r>
          </a:p>
        </p:txBody>
      </p:sp>
      <p:sp>
        <p:nvSpPr>
          <p:cNvPr id="44" name="Oval 43"/>
          <p:cNvSpPr/>
          <p:nvPr/>
        </p:nvSpPr>
        <p:spPr>
          <a:xfrm>
            <a:off x="8339328" y="3474720"/>
            <a:ext cx="109728" cy="109728"/>
          </a:xfrm>
          <a:prstGeom prst="ellipse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22208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复购 GMV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62356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C2326"/>
                </a:solidFill>
                <a:latin typeface="Microsoft YaHei"/>
              </a:defRPr>
            </a:pPr>
            <a:r>
              <a:t>第一版不自建完整商城；通过外部权益连接器承接已有商城、店铺、私域和线下核销。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326"/>
                </a:solidFill>
                <a:latin typeface="Microsoft YaHei"/>
              </a:defRPr>
            </a:pPr>
            <a:r>
              <a:t>11｜轻量溯源：让消费者相信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658368" cy="54864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C74"/>
                </a:solidFill>
                <a:latin typeface="Microsoft YaHei"/>
              </a:defRPr>
            </a:pPr>
            <a:r>
              <a:t>不做重型供应链系统，但把消费者需要看到的信任内容做完整。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320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C74"/>
                </a:solidFill>
                <a:latin typeface="Microsoft YaHei"/>
              </a:defRPr>
            </a:pPr>
            <a:r>
              <a:t>一码通 · 包装扫码增长 SaaS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3375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73152" cy="1371600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5544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产品信息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C74"/>
                </a:solidFill>
                <a:latin typeface="Microsoft YaHei"/>
              </a:defRPr>
            </a:pPr>
            <a:r>
              <a:t>名称、规格、卖点、图文视频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417320"/>
            <a:ext cx="33375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417320"/>
            <a:ext cx="73152" cy="1371600"/>
          </a:xfrm>
          <a:prstGeom prst="rect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1" y="15544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产地批次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1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C74"/>
                </a:solidFill>
                <a:latin typeface="Microsoft YaHei"/>
              </a:defRPr>
            </a:pPr>
            <a:r>
              <a:t>产地、批次、生产日期、保质期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3375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417320"/>
            <a:ext cx="73152" cy="1371600"/>
          </a:xfrm>
          <a:prstGeom prst="rect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15544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检测报告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C74"/>
                </a:solidFill>
                <a:latin typeface="Microsoft YaHei"/>
              </a:defRPr>
            </a:pPr>
            <a:r>
              <a:t>报告摘要、报告图片、指标说明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291839"/>
            <a:ext cx="33375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291839"/>
            <a:ext cx="73152" cy="1371600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342899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资质证书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384047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C74"/>
                </a:solidFill>
                <a:latin typeface="Microsoft YaHei"/>
              </a:defRPr>
            </a:pPr>
            <a:r>
              <a:t>企业资质、认证、地理标志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3291839"/>
            <a:ext cx="33375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59" y="3291839"/>
            <a:ext cx="73152" cy="1371600"/>
          </a:xfrm>
          <a:prstGeom prst="rect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1" y="342899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品牌故事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1" y="384047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C74"/>
                </a:solidFill>
                <a:latin typeface="Microsoft YaHei"/>
              </a:defRPr>
            </a:pPr>
            <a:r>
              <a:t>产地故事、工艺、农户/基地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3291839"/>
            <a:ext cx="33375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79" y="3291839"/>
            <a:ext cx="73152" cy="1371600"/>
          </a:xfrm>
          <a:prstGeom prst="rect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1" y="342899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英文模板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1" y="384047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C74"/>
                </a:solidFill>
                <a:latin typeface="Microsoft YaHei"/>
              </a:defRPr>
            </a:pPr>
            <a:r>
              <a:t>出口、展会、跨境场景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66928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C2326"/>
                </a:solidFill>
                <a:latin typeface="Microsoft YaHei"/>
              </a:defRPr>
            </a:pPr>
            <a:r>
              <a:t>原则：溯源展示免登录；涉及领券、积分、留资和触达时再授权。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326"/>
                </a:solidFill>
                <a:latin typeface="Microsoft YaHei"/>
              </a:defRPr>
            </a:pPr>
            <a:r>
              <a:t>12｜轻量防伪与防窜：发现线索，不夸大承诺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658368" cy="54864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C74"/>
                </a:solidFill>
                <a:latin typeface="Microsoft YaHei"/>
              </a:defRPr>
            </a:pPr>
            <a:r>
              <a:t>通过唯一身份码和行为数据提高造假与窜货成本。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320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C74"/>
                </a:solidFill>
                <a:latin typeface="Microsoft YaHei"/>
              </a:defRPr>
            </a:pPr>
            <a:r>
              <a:t>一码通 · 包装扫码增长 SaaS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71600"/>
            <a:ext cx="1572768" cy="658368"/>
          </a:xfrm>
          <a:prstGeom prst="roundRect">
            <a:avLst/>
          </a:prstGeom>
          <a:solidFill>
            <a:srgbClr val="F4F8F6"/>
          </a:solidFill>
          <a:ln w="15240">
            <a:solidFill>
              <a:srgbClr val="C4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3" y="147218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唯一码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50008" y="1700784"/>
            <a:ext cx="246888" cy="0"/>
          </a:xfrm>
          <a:prstGeom prst="line">
            <a:avLst/>
          </a:prstGeom>
          <a:ln w="16510">
            <a:solidFill>
              <a:srgbClr val="C44E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96896" y="1371600"/>
            <a:ext cx="1572768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47218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首次扫码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69663" y="1700784"/>
            <a:ext cx="246889" cy="0"/>
          </a:xfrm>
          <a:prstGeom prst="line">
            <a:avLst/>
          </a:prstGeom>
          <a:ln w="16510">
            <a:solidFill>
              <a:srgbClr val="C44E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16552" y="1371600"/>
            <a:ext cx="1572768" cy="658368"/>
          </a:xfrm>
          <a:prstGeom prst="roundRect">
            <a:avLst/>
          </a:prstGeom>
          <a:solidFill>
            <a:srgbClr val="F4F8F6"/>
          </a:solidFill>
          <a:ln w="15240">
            <a:solidFill>
              <a:srgbClr val="C4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147218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重复扫码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89320" y="1700784"/>
            <a:ext cx="246888" cy="0"/>
          </a:xfrm>
          <a:prstGeom prst="line">
            <a:avLst/>
          </a:prstGeom>
          <a:ln w="16510">
            <a:solidFill>
              <a:srgbClr val="C44E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36207" y="1371600"/>
            <a:ext cx="1572768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1" y="147218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多地异常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08975" y="1700784"/>
            <a:ext cx="246888" cy="0"/>
          </a:xfrm>
          <a:prstGeom prst="line">
            <a:avLst/>
          </a:prstGeom>
          <a:ln w="16510">
            <a:solidFill>
              <a:srgbClr val="C44E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055864" y="1371600"/>
            <a:ext cx="1572768" cy="658368"/>
          </a:xfrm>
          <a:prstGeom prst="roundRect">
            <a:avLst/>
          </a:prstGeom>
          <a:solidFill>
            <a:srgbClr val="F4F8F6"/>
          </a:solidFill>
          <a:ln w="15240">
            <a:solidFill>
              <a:srgbClr val="C4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0728" y="147218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风险预警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28632" y="1700784"/>
            <a:ext cx="246888" cy="0"/>
          </a:xfrm>
          <a:prstGeom prst="line">
            <a:avLst/>
          </a:prstGeom>
          <a:ln w="16510">
            <a:solidFill>
              <a:srgbClr val="C44E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75519" y="1371600"/>
            <a:ext cx="1572768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30384" y="147218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处置/作废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2743200"/>
            <a:ext cx="33375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2743200"/>
            <a:ext cx="73152" cy="2286000"/>
          </a:xfrm>
          <a:prstGeom prst="rect">
            <a:avLst/>
          </a:prstGeom>
          <a:solidFill>
            <a:srgbClr val="C4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28803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C2326"/>
                </a:solidFill>
                <a:latin typeface="Microsoft YaHei"/>
              </a:defRPr>
            </a:pPr>
            <a:r>
              <a:t>轻量验真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32918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C74"/>
                </a:solidFill>
                <a:latin typeface="Microsoft YaHei"/>
              </a:defRPr>
            </a:pPr>
            <a:r>
              <a:t>查无此码、首扫提示、重扫提醒、同码多地扫码预警。高价值产品建议使用外码 + 内码。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2743200"/>
            <a:ext cx="33375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34840" y="2743200"/>
            <a:ext cx="73152" cy="2286000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9431" y="28803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C2326"/>
                </a:solidFill>
                <a:latin typeface="Microsoft YaHei"/>
              </a:defRPr>
            </a:pPr>
            <a:r>
              <a:t>轻量防窜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1" y="32918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C74"/>
                </a:solidFill>
                <a:latin typeface="Microsoft YaHei"/>
              </a:defRPr>
            </a:pPr>
            <a:r>
              <a:t>码段绑定经销商、区域、门店。实际扫码地区与预期销售区域比对，发现疑似跨区。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2743200"/>
            <a:ext cx="33375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92440" y="2743200"/>
            <a:ext cx="73152" cy="2286000"/>
          </a:xfrm>
          <a:prstGeom prst="rect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57031" y="28803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C2326"/>
                </a:solidFill>
                <a:latin typeface="Microsoft YaHei"/>
              </a:defRPr>
            </a:pPr>
            <a:r>
              <a:t>活动防刷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1" y="32918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C74"/>
                </a:solidFill>
                <a:latin typeface="Microsoft YaHei"/>
              </a:defRPr>
            </a:pPr>
            <a:r>
              <a:t>按用户、手机号、设备、IP、地区、时间、预算限制权益发放。第一版以规则和预警为主。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326"/>
                </a:solidFill>
                <a:latin typeface="Microsoft YaHei"/>
              </a:defRPr>
            </a:pPr>
            <a:r>
              <a:t>13｜数据看板：让包装流量回到经营决策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658368" cy="54864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C74"/>
                </a:solidFill>
                <a:latin typeface="Microsoft YaHei"/>
              </a:defRPr>
            </a:pPr>
            <a:r>
              <a:t>回答四个问题：谁扫了？为什么扫？有没有转化？有没有异常？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320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C74"/>
                </a:solidFill>
                <a:latin typeface="Microsoft YaHei"/>
              </a:defRPr>
            </a:pPr>
            <a:r>
              <a:t>一码通 · 包装扫码增长 SaaS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60604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73152" cy="3749039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544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C2326"/>
                </a:solidFill>
                <a:latin typeface="Microsoft YaHei"/>
              </a:defRPr>
            </a:pPr>
            <a:r>
              <a:t>经营看板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65960"/>
            <a:ext cx="2286000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C74"/>
                </a:solidFill>
                <a:latin typeface="Microsoft YaHei"/>
              </a:defRPr>
            </a:pPr>
            <a:r>
              <a:t>扫码量、独立用户、领券、留资、加私域、跳转、成交归因。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417320"/>
            <a:ext cx="260604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1417320"/>
            <a:ext cx="73152" cy="3749039"/>
          </a:xfrm>
          <a:prstGeom prst="rect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15544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C2326"/>
                </a:solidFill>
                <a:latin typeface="Microsoft YaHei"/>
              </a:defRPr>
            </a:pPr>
            <a:r>
              <a:t>活动看板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1965960"/>
            <a:ext cx="2286000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C74"/>
                </a:solidFill>
                <a:latin typeface="Microsoft YaHei"/>
              </a:defRPr>
            </a:pPr>
            <a:r>
              <a:t>页面漏斗、权益领取、核销、活动对比、A/B 测试。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417320"/>
            <a:ext cx="260604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417320"/>
            <a:ext cx="73152" cy="3749039"/>
          </a:xfrm>
          <a:prstGeom prst="rect">
            <a:avLst/>
          </a:prstGeom>
          <a:solidFill>
            <a:srgbClr val="C4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5544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C2326"/>
                </a:solidFill>
                <a:latin typeface="Microsoft YaHei"/>
              </a:defRPr>
            </a:pPr>
            <a:r>
              <a:t>渠道风控看板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1965960"/>
            <a:ext cx="2286000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C74"/>
                </a:solidFill>
                <a:latin typeface="Microsoft YaHei"/>
              </a:defRPr>
            </a:pPr>
            <a:r>
              <a:t>重复扫码、多地扫码、跨区扫码、疑似复制码、疑似窜货。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417320"/>
            <a:ext cx="260604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417320"/>
            <a:ext cx="73152" cy="3749039"/>
          </a:xfrm>
          <a:prstGeom prst="rect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2872" y="15544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C2326"/>
                </a:solidFill>
                <a:latin typeface="Microsoft YaHei"/>
              </a:defRPr>
            </a:pPr>
            <a:r>
              <a:t>区域品牌看板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1965960"/>
            <a:ext cx="2286000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C74"/>
                </a:solidFill>
                <a:latin typeface="Microsoft YaHei"/>
              </a:defRPr>
            </a:pPr>
            <a:r>
              <a:t>成员企业、授权产品、区域曝光、消费者分布、企业对比。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C2326"/>
                </a:solidFill>
                <a:latin typeface="Microsoft YaHei"/>
              </a:defRPr>
            </a:pPr>
            <a:r>
              <a:t>包装码不是一次性触点，而是持续产生消费者和渠道数据的资产。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326"/>
                </a:solidFill>
                <a:latin typeface="Microsoft YaHei"/>
              </a:defRPr>
            </a:pPr>
            <a:r>
              <a:t>14｜区域品牌 / 协会场景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658368" cy="54864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C74"/>
                </a:solidFill>
                <a:latin typeface="Microsoft YaHei"/>
              </a:defRPr>
            </a:pPr>
            <a:r>
              <a:t>一个总账号，统一品牌背书，多企业独立运营。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320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C74"/>
                </a:solidFill>
                <a:latin typeface="Microsoft YaHei"/>
              </a:defRPr>
            </a:pPr>
            <a:r>
              <a:t>一码通 · 包装扫码增长 SaaS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572768" cy="658368"/>
          </a:xfrm>
          <a:prstGeom prst="roundRect">
            <a:avLst/>
          </a:prstGeom>
          <a:solidFill>
            <a:srgbClr val="F4F8F6"/>
          </a:solidFill>
          <a:ln w="15240">
            <a:solidFill>
              <a:srgbClr val="3A7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3" y="151790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区域品牌总账号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50008" y="1746504"/>
            <a:ext cx="246888" cy="0"/>
          </a:xfrm>
          <a:prstGeom prst="line">
            <a:avLst/>
          </a:prstGeom>
          <a:ln w="16510">
            <a:solidFill>
              <a:srgbClr val="3A7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96896" y="1417320"/>
            <a:ext cx="1572768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7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51790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成员企业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69663" y="1746504"/>
            <a:ext cx="246889" cy="0"/>
          </a:xfrm>
          <a:prstGeom prst="line">
            <a:avLst/>
          </a:prstGeom>
          <a:ln w="16510">
            <a:solidFill>
              <a:srgbClr val="3A7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16552" y="1417320"/>
            <a:ext cx="1572768" cy="658368"/>
          </a:xfrm>
          <a:prstGeom prst="roundRect">
            <a:avLst/>
          </a:prstGeom>
          <a:solidFill>
            <a:srgbClr val="F4F8F6"/>
          </a:solidFill>
          <a:ln w="15240">
            <a:solidFill>
              <a:srgbClr val="3A7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151790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授权产品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89320" y="1746504"/>
            <a:ext cx="246888" cy="0"/>
          </a:xfrm>
          <a:prstGeom prst="line">
            <a:avLst/>
          </a:prstGeom>
          <a:ln w="16510">
            <a:solidFill>
              <a:srgbClr val="3A7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36207" y="1417320"/>
            <a:ext cx="1572768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7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1" y="151790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统一模板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08975" y="1746504"/>
            <a:ext cx="246888" cy="0"/>
          </a:xfrm>
          <a:prstGeom prst="line">
            <a:avLst/>
          </a:prstGeom>
          <a:ln w="16510">
            <a:solidFill>
              <a:srgbClr val="3A7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055864" y="1417320"/>
            <a:ext cx="1572768" cy="658368"/>
          </a:xfrm>
          <a:prstGeom prst="roundRect">
            <a:avLst/>
          </a:prstGeom>
          <a:solidFill>
            <a:srgbClr val="F4F8F6"/>
          </a:solidFill>
          <a:ln w="15240">
            <a:solidFill>
              <a:srgbClr val="3A7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0728" y="151790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消费者扫码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28632" y="1746504"/>
            <a:ext cx="246888" cy="0"/>
          </a:xfrm>
          <a:prstGeom prst="line">
            <a:avLst/>
          </a:prstGeom>
          <a:ln w="16510">
            <a:solidFill>
              <a:srgbClr val="3A7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75519" y="1417320"/>
            <a:ext cx="1572768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7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30384" y="151790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汇总看板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2743200"/>
            <a:ext cx="33375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2743200"/>
            <a:ext cx="73152" cy="2377440"/>
          </a:xfrm>
          <a:prstGeom prst="rect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28803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上级组织</a:t>
            </a:r>
          </a:p>
        </p:txBody>
      </p:sp>
      <p:sp>
        <p:nvSpPr>
          <p:cNvPr id="27" name="Oval 26"/>
          <p:cNvSpPr/>
          <p:nvPr/>
        </p:nvSpPr>
        <p:spPr>
          <a:xfrm>
            <a:off x="978408" y="3355848"/>
            <a:ext cx="109728" cy="109728"/>
          </a:xfrm>
          <a:prstGeom prst="ellipse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1288" y="33101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统一 Logo/域名/白标</a:t>
            </a:r>
          </a:p>
        </p:txBody>
      </p:sp>
      <p:sp>
        <p:nvSpPr>
          <p:cNvPr id="29" name="Oval 28"/>
          <p:cNvSpPr/>
          <p:nvPr/>
        </p:nvSpPr>
        <p:spPr>
          <a:xfrm>
            <a:off x="978408" y="3739896"/>
            <a:ext cx="109728" cy="109728"/>
          </a:xfrm>
          <a:prstGeom prst="ellipse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1288" y="36941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统一授权产品</a:t>
            </a:r>
          </a:p>
        </p:txBody>
      </p:sp>
      <p:sp>
        <p:nvSpPr>
          <p:cNvPr id="31" name="Oval 30"/>
          <p:cNvSpPr/>
          <p:nvPr/>
        </p:nvSpPr>
        <p:spPr>
          <a:xfrm>
            <a:off x="978408" y="4123944"/>
            <a:ext cx="109728" cy="109728"/>
          </a:xfrm>
          <a:prstGeom prst="ellipse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1288" y="40782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统一码规则</a:t>
            </a:r>
          </a:p>
        </p:txBody>
      </p:sp>
      <p:sp>
        <p:nvSpPr>
          <p:cNvPr id="33" name="Oval 32"/>
          <p:cNvSpPr/>
          <p:nvPr/>
        </p:nvSpPr>
        <p:spPr>
          <a:xfrm>
            <a:off x="978408" y="4507992"/>
            <a:ext cx="109728" cy="109728"/>
          </a:xfrm>
          <a:prstGeom prst="ellipse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1288" y="44622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汇总数据看板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34840" y="2743200"/>
            <a:ext cx="33375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34840" y="2743200"/>
            <a:ext cx="73152" cy="2377440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9431" y="28803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成员企业</a:t>
            </a:r>
          </a:p>
        </p:txBody>
      </p:sp>
      <p:sp>
        <p:nvSpPr>
          <p:cNvPr id="38" name="Oval 37"/>
          <p:cNvSpPr/>
          <p:nvPr/>
        </p:nvSpPr>
        <p:spPr>
          <a:xfrm>
            <a:off x="4636007" y="3355848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18888" y="33101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独立产品资料</a:t>
            </a:r>
          </a:p>
        </p:txBody>
      </p:sp>
      <p:sp>
        <p:nvSpPr>
          <p:cNvPr id="40" name="Oval 39"/>
          <p:cNvSpPr/>
          <p:nvPr/>
        </p:nvSpPr>
        <p:spPr>
          <a:xfrm>
            <a:off x="4636007" y="3739896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18888" y="36941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独立活动配置</a:t>
            </a:r>
          </a:p>
        </p:txBody>
      </p:sp>
      <p:sp>
        <p:nvSpPr>
          <p:cNvPr id="42" name="Oval 41"/>
          <p:cNvSpPr/>
          <p:nvPr/>
        </p:nvSpPr>
        <p:spPr>
          <a:xfrm>
            <a:off x="4636007" y="4123944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18888" y="40782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独立私域承接</a:t>
            </a:r>
          </a:p>
        </p:txBody>
      </p:sp>
      <p:sp>
        <p:nvSpPr>
          <p:cNvPr id="44" name="Oval 43"/>
          <p:cNvSpPr/>
          <p:nvPr/>
        </p:nvSpPr>
        <p:spPr>
          <a:xfrm>
            <a:off x="4636007" y="4507992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18888" y="44622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独立经营数据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92440" y="2743200"/>
            <a:ext cx="33375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92440" y="2743200"/>
            <a:ext cx="73152" cy="2377440"/>
          </a:xfrm>
          <a:prstGeom prst="rect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57031" y="28803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对外价值</a:t>
            </a:r>
          </a:p>
        </p:txBody>
      </p:sp>
      <p:sp>
        <p:nvSpPr>
          <p:cNvPr id="49" name="Oval 48"/>
          <p:cNvSpPr/>
          <p:nvPr/>
        </p:nvSpPr>
        <p:spPr>
          <a:xfrm>
            <a:off x="8293608" y="3355848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76488" y="33101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区域品牌可信背书</a:t>
            </a:r>
          </a:p>
        </p:txBody>
      </p:sp>
      <p:sp>
        <p:nvSpPr>
          <p:cNvPr id="51" name="Oval 50"/>
          <p:cNvSpPr/>
          <p:nvPr/>
        </p:nvSpPr>
        <p:spPr>
          <a:xfrm>
            <a:off x="8293608" y="3739896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76488" y="36941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产业数字化展示</a:t>
            </a:r>
          </a:p>
        </p:txBody>
      </p:sp>
      <p:sp>
        <p:nvSpPr>
          <p:cNvPr id="53" name="Oval 52"/>
          <p:cNvSpPr/>
          <p:nvPr/>
        </p:nvSpPr>
        <p:spPr>
          <a:xfrm>
            <a:off x="8293608" y="4123944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76488" y="40782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消费者数据沉淀</a:t>
            </a:r>
          </a:p>
        </p:txBody>
      </p:sp>
      <p:sp>
        <p:nvSpPr>
          <p:cNvPr id="55" name="Oval 54"/>
          <p:cNvSpPr/>
          <p:nvPr/>
        </p:nvSpPr>
        <p:spPr>
          <a:xfrm>
            <a:off x="8293608" y="4507992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76488" y="44622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成员企业批量复制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326"/>
                </a:solidFill>
                <a:latin typeface="Microsoft YaHei"/>
              </a:defRPr>
            </a:pPr>
            <a:r>
              <a:t>15｜SaaS + 代运营：解决客户不会用的问题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658368" cy="54864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C74"/>
                </a:solidFill>
                <a:latin typeface="Microsoft YaHei"/>
              </a:defRPr>
            </a:pPr>
            <a:r>
              <a:t>产品标准化，交付服务化。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320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C74"/>
                </a:solidFill>
                <a:latin typeface="Microsoft YaHei"/>
              </a:defRPr>
            </a:pPr>
            <a:r>
              <a:t>一码通 · 包装扫码增长 SaaS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33756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73152" cy="3749039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5544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C2326"/>
                </a:solidFill>
                <a:latin typeface="Microsoft YaHei"/>
              </a:defRPr>
            </a:pPr>
            <a:r>
              <a:t>标准 SaaS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965960"/>
            <a:ext cx="3017520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E6C74"/>
                </a:solidFill>
                <a:latin typeface="Microsoft YaHei"/>
              </a:defRPr>
            </a:pPr>
            <a:r>
              <a:t>客户可以自助管理产品、码、页面、活动、权益、私域和数据看板。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33756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417320"/>
            <a:ext cx="73152" cy="3749039"/>
          </a:xfrm>
          <a:prstGeom prst="rect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15544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C2326"/>
                </a:solidFill>
                <a:latin typeface="Microsoft YaHei"/>
              </a:defRPr>
            </a:pPr>
            <a:r>
              <a:t>代运营配置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1965960"/>
            <a:ext cx="3017520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E6C74"/>
                </a:solidFill>
                <a:latin typeface="Microsoft YaHei"/>
              </a:defRPr>
            </a:pPr>
            <a:r>
              <a:t>我们可以提供资料整理、页面搭建、活动配置、码策略、印刷对接和数据复盘。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33756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73152" cy="3749039"/>
          </a:xfrm>
          <a:prstGeom prst="rect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15544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C2326"/>
                </a:solidFill>
                <a:latin typeface="Microsoft YaHei"/>
              </a:defRPr>
            </a:pPr>
            <a:r>
              <a:t>行业模板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1965960"/>
            <a:ext cx="3017520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E6C74"/>
                </a:solidFill>
                <a:latin typeface="Microsoft YaHei"/>
              </a:defRPr>
            </a:pPr>
            <a:r>
              <a:t>通过食品、农产品、礼盒、茶叶、大米、水果、区域品牌模板降低上线成本。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C2326"/>
                </a:solidFill>
                <a:latin typeface="Microsoft YaHei"/>
              </a:defRPr>
            </a:pPr>
            <a:r>
              <a:t>早期商业成功关键：不是让客户自己研究后台，而是让客户快速跑通第一个扫码活动。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326"/>
                </a:solidFill>
                <a:latin typeface="Microsoft YaHei"/>
              </a:defRPr>
            </a:pPr>
            <a:r>
              <a:t>16｜外部权益连接器：不要押注单一平台接口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658368" cy="54864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C74"/>
                </a:solidFill>
                <a:latin typeface="Microsoft YaHei"/>
              </a:defRPr>
            </a:pPr>
            <a:r>
              <a:t>所有电商不是都有通用发券 API，所以要分层兼容。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320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C74"/>
                </a:solidFill>
                <a:latin typeface="Microsoft YaHei"/>
              </a:defRPr>
            </a:pPr>
            <a:r>
              <a:t>一码通 · 包装扫码增长 SaaS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08760"/>
            <a:ext cx="242316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508760"/>
            <a:ext cx="73152" cy="3337560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64591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C2326"/>
                </a:solidFill>
                <a:latin typeface="Microsoft YaHei"/>
              </a:defRPr>
            </a:pPr>
            <a:r>
              <a:t>L1 链接/口令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057400"/>
            <a:ext cx="21031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C74"/>
                </a:solidFill>
                <a:latin typeface="Microsoft YaHei"/>
              </a:defRPr>
            </a:pPr>
            <a:r>
              <a:t>外部领券链接、店铺链接、商品链接、口令。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79" y="1508760"/>
            <a:ext cx="242316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79" y="1508760"/>
            <a:ext cx="73152" cy="3337560"/>
          </a:xfrm>
          <a:prstGeom prst="rect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6472" y="164591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C2326"/>
                </a:solidFill>
                <a:latin typeface="Microsoft YaHei"/>
              </a:defRPr>
            </a:pPr>
            <a:r>
              <a:t>L2 券码池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2057400"/>
            <a:ext cx="21031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C74"/>
                </a:solidFill>
                <a:latin typeface="Microsoft YaHei"/>
              </a:defRPr>
            </a:pPr>
            <a:r>
              <a:t>导入外部券码，一人一码发放。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508760"/>
            <a:ext cx="242316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508760"/>
            <a:ext cx="73152" cy="3337560"/>
          </a:xfrm>
          <a:prstGeom prst="rect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64591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C2326"/>
                </a:solidFill>
                <a:latin typeface="Microsoft YaHei"/>
              </a:defRPr>
            </a:pPr>
            <a:r>
              <a:t>L3 API 发券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057400"/>
            <a:ext cx="21031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C74"/>
                </a:solidFill>
                <a:latin typeface="Microsoft YaHei"/>
              </a:defRPr>
            </a:pPr>
            <a:r>
              <a:t>有赞、微盟、微信支付、支付宝、自建商城优先。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19" y="1508760"/>
            <a:ext cx="242316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19" y="1508760"/>
            <a:ext cx="73152" cy="3337560"/>
          </a:xfrm>
          <a:prstGeom prst="rect">
            <a:avLst/>
          </a:prstGeom>
          <a:solidFill>
            <a:srgbClr val="C4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164591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C2326"/>
                </a:solidFill>
                <a:latin typeface="Microsoft YaHei"/>
              </a:defRPr>
            </a:pPr>
            <a:r>
              <a:t>L4 订单回流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4311" y="2057400"/>
            <a:ext cx="21031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C74"/>
                </a:solidFill>
                <a:latin typeface="Microsoft YaHei"/>
              </a:defRPr>
            </a:pPr>
            <a:r>
              <a:t>API/Webhook/联盟/手动导入，做 GMV 归因。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C2326"/>
                </a:solidFill>
                <a:latin typeface="Microsoft YaHei"/>
              </a:defRPr>
            </a:pPr>
            <a:r>
              <a:t>产品策略：先确保所有客户都能跑通“扫码 → 点击/领券 → 私域/商城”，再逐步做深度 API 和订单回流。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326"/>
                </a:solidFill>
                <a:latin typeface="Microsoft YaHei"/>
              </a:defRPr>
            </a:pPr>
            <a:r>
              <a:t>17｜版本与计费方式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658368" cy="54864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C74"/>
                </a:solidFill>
                <a:latin typeface="Microsoft YaHei"/>
              </a:defRPr>
            </a:pPr>
            <a:r>
              <a:t>不要把一码通卖成廉价二维码工具。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320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C74"/>
                </a:solidFill>
                <a:latin typeface="Microsoft YaHei"/>
              </a:defRPr>
            </a:pPr>
            <a:r>
              <a:t>一码通 · 包装扫码增长 SaaS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33375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325880"/>
            <a:ext cx="73152" cy="3611880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4630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单企业品牌方</a:t>
            </a:r>
          </a:p>
        </p:txBody>
      </p:sp>
      <p:sp>
        <p:nvSpPr>
          <p:cNvPr id="10" name="Oval 9"/>
          <p:cNvSpPr/>
          <p:nvPr/>
        </p:nvSpPr>
        <p:spPr>
          <a:xfrm>
            <a:off x="978408" y="1938527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189280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年费订阅</a:t>
            </a:r>
          </a:p>
        </p:txBody>
      </p:sp>
      <p:sp>
        <p:nvSpPr>
          <p:cNvPr id="12" name="Oval 11"/>
          <p:cNvSpPr/>
          <p:nvPr/>
        </p:nvSpPr>
        <p:spPr>
          <a:xfrm>
            <a:off x="978408" y="2322575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22768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码量包 / 扫码量包</a:t>
            </a:r>
          </a:p>
        </p:txBody>
      </p:sp>
      <p:sp>
        <p:nvSpPr>
          <p:cNvPr id="14" name="Oval 13"/>
          <p:cNvSpPr/>
          <p:nvPr/>
        </p:nvSpPr>
        <p:spPr>
          <a:xfrm>
            <a:off x="978408" y="2706623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266090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活动/权益/数据高级能力</a:t>
            </a:r>
          </a:p>
        </p:txBody>
      </p:sp>
      <p:sp>
        <p:nvSpPr>
          <p:cNvPr id="16" name="Oval 15"/>
          <p:cNvSpPr/>
          <p:nvPr/>
        </p:nvSpPr>
        <p:spPr>
          <a:xfrm>
            <a:off x="978408" y="3090672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3044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代配置/代运营服务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325880"/>
            <a:ext cx="33375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1325880"/>
            <a:ext cx="73152" cy="3611880"/>
          </a:xfrm>
          <a:prstGeom prst="rect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1" y="14630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区域品牌/协会</a:t>
            </a:r>
          </a:p>
        </p:txBody>
      </p:sp>
      <p:sp>
        <p:nvSpPr>
          <p:cNvPr id="21" name="Oval 20"/>
          <p:cNvSpPr/>
          <p:nvPr/>
        </p:nvSpPr>
        <p:spPr>
          <a:xfrm>
            <a:off x="4636007" y="1938527"/>
            <a:ext cx="109728" cy="109728"/>
          </a:xfrm>
          <a:prstGeom prst="ellipse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8888" y="189280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平台年费</a:t>
            </a:r>
          </a:p>
        </p:txBody>
      </p:sp>
      <p:sp>
        <p:nvSpPr>
          <p:cNvPr id="23" name="Oval 22"/>
          <p:cNvSpPr/>
          <p:nvPr/>
        </p:nvSpPr>
        <p:spPr>
          <a:xfrm>
            <a:off x="4636007" y="2322575"/>
            <a:ext cx="109728" cy="109728"/>
          </a:xfrm>
          <a:prstGeom prst="ellipse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18888" y="22768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成员企业数</a:t>
            </a:r>
          </a:p>
        </p:txBody>
      </p:sp>
      <p:sp>
        <p:nvSpPr>
          <p:cNvPr id="25" name="Oval 24"/>
          <p:cNvSpPr/>
          <p:nvPr/>
        </p:nvSpPr>
        <p:spPr>
          <a:xfrm>
            <a:off x="4636007" y="2706623"/>
            <a:ext cx="109728" cy="109728"/>
          </a:xfrm>
          <a:prstGeom prst="ellipse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18888" y="266090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授权产品数</a:t>
            </a:r>
          </a:p>
        </p:txBody>
      </p:sp>
      <p:sp>
        <p:nvSpPr>
          <p:cNvPr id="27" name="Oval 26"/>
          <p:cNvSpPr/>
          <p:nvPr/>
        </p:nvSpPr>
        <p:spPr>
          <a:xfrm>
            <a:off x="4636007" y="3090672"/>
            <a:ext cx="109728" cy="109728"/>
          </a:xfrm>
          <a:prstGeom prst="ellipse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18888" y="3044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区域品牌看板</a:t>
            </a:r>
          </a:p>
        </p:txBody>
      </p:sp>
      <p:sp>
        <p:nvSpPr>
          <p:cNvPr id="29" name="Oval 28"/>
          <p:cNvSpPr/>
          <p:nvPr/>
        </p:nvSpPr>
        <p:spPr>
          <a:xfrm>
            <a:off x="4636007" y="3474720"/>
            <a:ext cx="109728" cy="109728"/>
          </a:xfrm>
          <a:prstGeom prst="ellipse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18888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统一模板/白标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1325880"/>
            <a:ext cx="33375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2440" y="1325880"/>
            <a:ext cx="73152" cy="3611880"/>
          </a:xfrm>
          <a:prstGeom prst="rect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57031" y="14630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增值服务</a:t>
            </a:r>
          </a:p>
        </p:txBody>
      </p:sp>
      <p:sp>
        <p:nvSpPr>
          <p:cNvPr id="34" name="Oval 33"/>
          <p:cNvSpPr/>
          <p:nvPr/>
        </p:nvSpPr>
        <p:spPr>
          <a:xfrm>
            <a:off x="8293608" y="1938527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76488" y="189280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首个活动上线包</a:t>
            </a:r>
          </a:p>
        </p:txBody>
      </p:sp>
      <p:sp>
        <p:nvSpPr>
          <p:cNvPr id="36" name="Oval 35"/>
          <p:cNvSpPr/>
          <p:nvPr/>
        </p:nvSpPr>
        <p:spPr>
          <a:xfrm>
            <a:off x="8293608" y="2322575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22768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印刷/贴标/喷码对接</a:t>
            </a:r>
          </a:p>
        </p:txBody>
      </p:sp>
      <p:sp>
        <p:nvSpPr>
          <p:cNvPr id="38" name="Oval 37"/>
          <p:cNvSpPr/>
          <p:nvPr/>
        </p:nvSpPr>
        <p:spPr>
          <a:xfrm>
            <a:off x="8293608" y="2706623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76488" y="266090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行业模板包</a:t>
            </a:r>
          </a:p>
        </p:txBody>
      </p:sp>
      <p:sp>
        <p:nvSpPr>
          <p:cNvPr id="40" name="Oval 39"/>
          <p:cNvSpPr/>
          <p:nvPr/>
        </p:nvSpPr>
        <p:spPr>
          <a:xfrm>
            <a:off x="8293608" y="3090672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76488" y="3044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外部系统集成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62356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C2326"/>
                </a:solidFill>
                <a:latin typeface="Microsoft YaHei"/>
              </a:defRPr>
            </a:pPr>
            <a:r>
              <a:t>收费锚点：包装数字化入口、消费者资产、复购转化、渠道数据，而不是二维码图片。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326"/>
                </a:solidFill>
                <a:latin typeface="Microsoft YaHei"/>
              </a:defRPr>
            </a:pPr>
            <a:r>
              <a:t>18｜竞争定位：站在交叉点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658368" cy="54864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C74"/>
                </a:solidFill>
                <a:latin typeface="Microsoft YaHei"/>
              </a:defRPr>
            </a:pPr>
            <a:r>
              <a:t>做溯源的不懂电商，做电商的不懂包装赋码。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320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C74"/>
                </a:solidFill>
                <a:latin typeface="Microsoft YaHei"/>
              </a:defRPr>
            </a:pPr>
            <a:r>
              <a:t>一码通 · 包装扫码增长 SaaS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33375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325880"/>
            <a:ext cx="73152" cy="3611880"/>
          </a:xfrm>
          <a:prstGeom prst="rect">
            <a:avLst/>
          </a:prstGeom>
          <a:solidFill>
            <a:srgbClr val="C4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4630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不是</a:t>
            </a:r>
          </a:p>
        </p:txBody>
      </p:sp>
      <p:sp>
        <p:nvSpPr>
          <p:cNvPr id="10" name="Oval 9"/>
          <p:cNvSpPr/>
          <p:nvPr/>
        </p:nvSpPr>
        <p:spPr>
          <a:xfrm>
            <a:off x="978408" y="1938527"/>
            <a:ext cx="109728" cy="109728"/>
          </a:xfrm>
          <a:prstGeom prst="ellipse">
            <a:avLst/>
          </a:prstGeom>
          <a:solidFill>
            <a:srgbClr val="C4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189280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普通二维码工具</a:t>
            </a:r>
          </a:p>
        </p:txBody>
      </p:sp>
      <p:sp>
        <p:nvSpPr>
          <p:cNvPr id="12" name="Oval 11"/>
          <p:cNvSpPr/>
          <p:nvPr/>
        </p:nvSpPr>
        <p:spPr>
          <a:xfrm>
            <a:off x="978408" y="2322575"/>
            <a:ext cx="109728" cy="109728"/>
          </a:xfrm>
          <a:prstGeom prst="ellipse">
            <a:avLst/>
          </a:prstGeom>
          <a:solidFill>
            <a:srgbClr val="C4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22768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传统重型溯源</a:t>
            </a:r>
          </a:p>
        </p:txBody>
      </p:sp>
      <p:sp>
        <p:nvSpPr>
          <p:cNvPr id="14" name="Oval 13"/>
          <p:cNvSpPr/>
          <p:nvPr/>
        </p:nvSpPr>
        <p:spPr>
          <a:xfrm>
            <a:off x="978408" y="2706623"/>
            <a:ext cx="109728" cy="109728"/>
          </a:xfrm>
          <a:prstGeom prst="ellipse">
            <a:avLst/>
          </a:prstGeom>
          <a:solidFill>
            <a:srgbClr val="C4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266090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单纯防伪标签</a:t>
            </a:r>
          </a:p>
        </p:txBody>
      </p:sp>
      <p:sp>
        <p:nvSpPr>
          <p:cNvPr id="16" name="Oval 15"/>
          <p:cNvSpPr/>
          <p:nvPr/>
        </p:nvSpPr>
        <p:spPr>
          <a:xfrm>
            <a:off x="978408" y="3090672"/>
            <a:ext cx="109728" cy="109728"/>
          </a:xfrm>
          <a:prstGeom prst="ellipse">
            <a:avLst/>
          </a:prstGeom>
          <a:solidFill>
            <a:srgbClr val="C4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3044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完整电商商城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325880"/>
            <a:ext cx="33375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1325880"/>
            <a:ext cx="73152" cy="3611880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1" y="14630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而是</a:t>
            </a:r>
          </a:p>
        </p:txBody>
      </p:sp>
      <p:sp>
        <p:nvSpPr>
          <p:cNvPr id="21" name="Oval 20"/>
          <p:cNvSpPr/>
          <p:nvPr/>
        </p:nvSpPr>
        <p:spPr>
          <a:xfrm>
            <a:off x="4636007" y="1938527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8888" y="189280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包装扫码增长 SaaS</a:t>
            </a:r>
          </a:p>
        </p:txBody>
      </p:sp>
      <p:sp>
        <p:nvSpPr>
          <p:cNvPr id="23" name="Oval 22"/>
          <p:cNvSpPr/>
          <p:nvPr/>
        </p:nvSpPr>
        <p:spPr>
          <a:xfrm>
            <a:off x="4636007" y="2322575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18888" y="22768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一物一码运营平台</a:t>
            </a:r>
          </a:p>
        </p:txBody>
      </p:sp>
      <p:sp>
        <p:nvSpPr>
          <p:cNvPr id="25" name="Oval 24"/>
          <p:cNvSpPr/>
          <p:nvPr/>
        </p:nvSpPr>
        <p:spPr>
          <a:xfrm>
            <a:off x="4636007" y="2706623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18888" y="266090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轻量溯源信任页</a:t>
            </a:r>
          </a:p>
        </p:txBody>
      </p:sp>
      <p:sp>
        <p:nvSpPr>
          <p:cNvPr id="27" name="Oval 26"/>
          <p:cNvSpPr/>
          <p:nvPr/>
        </p:nvSpPr>
        <p:spPr>
          <a:xfrm>
            <a:off x="4636007" y="3090672"/>
            <a:ext cx="109728" cy="109728"/>
          </a:xfrm>
          <a:prstGeom prst="ellipse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18888" y="3044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私域复购入口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1325880"/>
            <a:ext cx="33375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1325880"/>
            <a:ext cx="73152" cy="3611880"/>
          </a:xfrm>
          <a:prstGeom prst="rect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14630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C2326"/>
                </a:solidFill>
                <a:latin typeface="Microsoft YaHei"/>
              </a:defRPr>
            </a:pPr>
            <a:r>
              <a:t>护城河</a:t>
            </a:r>
          </a:p>
        </p:txBody>
      </p:sp>
      <p:sp>
        <p:nvSpPr>
          <p:cNvPr id="32" name="Oval 31"/>
          <p:cNvSpPr/>
          <p:nvPr/>
        </p:nvSpPr>
        <p:spPr>
          <a:xfrm>
            <a:off x="8293608" y="1938527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76488" y="189280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码生命周期</a:t>
            </a:r>
          </a:p>
        </p:txBody>
      </p:sp>
      <p:sp>
        <p:nvSpPr>
          <p:cNvPr id="34" name="Oval 33"/>
          <p:cNvSpPr/>
          <p:nvPr/>
        </p:nvSpPr>
        <p:spPr>
          <a:xfrm>
            <a:off x="8293608" y="2322575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76488" y="22768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行业模板</a:t>
            </a:r>
          </a:p>
        </p:txBody>
      </p:sp>
      <p:sp>
        <p:nvSpPr>
          <p:cNvPr id="36" name="Oval 35"/>
          <p:cNvSpPr/>
          <p:nvPr/>
        </p:nvSpPr>
        <p:spPr>
          <a:xfrm>
            <a:off x="8293608" y="2706623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266090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数据归因</a:t>
            </a:r>
          </a:p>
        </p:txBody>
      </p:sp>
      <p:sp>
        <p:nvSpPr>
          <p:cNvPr id="38" name="Oval 37"/>
          <p:cNvSpPr/>
          <p:nvPr/>
        </p:nvSpPr>
        <p:spPr>
          <a:xfrm>
            <a:off x="8293608" y="3090672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76488" y="3044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代运营交付</a:t>
            </a:r>
          </a:p>
        </p:txBody>
      </p:sp>
      <p:sp>
        <p:nvSpPr>
          <p:cNvPr id="40" name="Oval 39"/>
          <p:cNvSpPr/>
          <p:nvPr/>
        </p:nvSpPr>
        <p:spPr>
          <a:xfrm>
            <a:off x="8293608" y="3474720"/>
            <a:ext cx="109728" cy="109728"/>
          </a:xfrm>
          <a:prstGeom prst="ellipse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76488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26"/>
                </a:solidFill>
                <a:latin typeface="Microsoft YaHei"/>
              </a:defRPr>
            </a:pPr>
            <a:r>
              <a:t>区域品牌场景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62356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C2326"/>
                </a:solidFill>
                <a:latin typeface="Microsoft YaHei"/>
              </a:defRPr>
            </a:pPr>
            <a:r>
              <a:t>一句话：把每一个包装码，从“被扫一下”变成“可持续运营”。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326"/>
                </a:solidFill>
                <a:latin typeface="Microsoft YaHei"/>
              </a:defRPr>
            </a:pPr>
            <a:r>
              <a:t>19｜首月落地路径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658368" cy="54864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C74"/>
                </a:solidFill>
                <a:latin typeface="Microsoft YaHei"/>
              </a:defRPr>
            </a:pPr>
            <a:r>
              <a:t>用一个产品、一批码、一个活动跑通闭环。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320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C74"/>
                </a:solidFill>
                <a:latin typeface="Microsoft YaHei"/>
              </a:defRPr>
            </a:pPr>
            <a:r>
              <a:t>一码通 · 包装扫码增长 SaaS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2331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508760"/>
            <a:ext cx="73152" cy="3840480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645919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C2326"/>
                </a:solidFill>
                <a:latin typeface="Microsoft YaHei"/>
              </a:defRPr>
            </a:pPr>
            <a:r>
              <a:t>第 1 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057400"/>
            <a:ext cx="20116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E6C74"/>
                </a:solidFill>
                <a:latin typeface="Microsoft YaHei"/>
              </a:defRPr>
            </a:pPr>
            <a:r>
              <a:t>资料收集</a:t>
            </a:r>
            <a:br/>
            <a:r>
              <a:t>产品/批次/证书</a:t>
            </a:r>
            <a:br/>
            <a:r>
              <a:t>行业模板选择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508760"/>
            <a:ext cx="2331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508760"/>
            <a:ext cx="73152" cy="3840480"/>
          </a:xfrm>
          <a:prstGeom prst="rect">
            <a:avLst/>
          </a:prstGeom>
          <a:solidFill>
            <a:srgbClr val="EE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2191" y="1645919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C2326"/>
                </a:solidFill>
                <a:latin typeface="Microsoft YaHei"/>
              </a:defRPr>
            </a:pPr>
            <a:r>
              <a:t>第 2 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1" y="2057400"/>
            <a:ext cx="20116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E6C74"/>
                </a:solidFill>
                <a:latin typeface="Microsoft YaHei"/>
              </a:defRPr>
            </a:pPr>
            <a:r>
              <a:t>页面配置</a:t>
            </a:r>
            <a:br/>
            <a:r>
              <a:t>权益/私域路径</a:t>
            </a:r>
            <a:br/>
            <a:r>
              <a:t>码包或旧码接管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508760"/>
            <a:ext cx="2331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1508760"/>
            <a:ext cx="73152" cy="3840480"/>
          </a:xfrm>
          <a:prstGeom prst="rect">
            <a:avLst/>
          </a:prstGeom>
          <a:solidFill>
            <a:srgbClr val="3A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1645919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C2326"/>
                </a:solidFill>
                <a:latin typeface="Microsoft YaHei"/>
              </a:defRPr>
            </a:pPr>
            <a:r>
              <a:t>第 3 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057400"/>
            <a:ext cx="20116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E6C74"/>
                </a:solidFill>
                <a:latin typeface="Microsoft YaHei"/>
              </a:defRPr>
            </a:pPr>
            <a:r>
              <a:t>包装上线</a:t>
            </a:r>
            <a:br/>
            <a:r>
              <a:t>扫码监控</a:t>
            </a:r>
            <a:br/>
            <a:r>
              <a:t>异常排查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39" y="1508760"/>
            <a:ext cx="2331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39" y="1508760"/>
            <a:ext cx="73152" cy="3840480"/>
          </a:xfrm>
          <a:prstGeom prst="rect">
            <a:avLst/>
          </a:prstGeom>
          <a:solidFill>
            <a:srgbClr val="C4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0031" y="1645919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C2326"/>
                </a:solidFill>
                <a:latin typeface="Microsoft YaHei"/>
              </a:defRPr>
            </a:pPr>
            <a:r>
              <a:t>第 4 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0031" y="2057400"/>
            <a:ext cx="20116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E6C74"/>
                </a:solidFill>
                <a:latin typeface="Microsoft YaHei"/>
              </a:defRPr>
            </a:pPr>
            <a:r>
              <a:t>数据复盘</a:t>
            </a:r>
            <a:br/>
            <a:r>
              <a:t>二次活动建议</a:t>
            </a:r>
            <a:br/>
            <a:r>
              <a:t>增购/扩品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6928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C2326"/>
                </a:solidFill>
                <a:latin typeface="Microsoft YaHei"/>
              </a:defRPr>
            </a:pPr>
            <a:r>
              <a:t>试点标准：至少 1 个产品、1 个首扫权益、1 条私域路径、1 个数据复盘。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6012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67050"/>
                </a:solidFill>
                <a:latin typeface="Microsoft YaHei"/>
              </a:defRPr>
            </a:pPr>
            <a:r>
              <a:t>让每一个包装码</a:t>
            </a:r>
            <a:br/>
            <a:r>
              <a:t>都成为增长资产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51460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C2326"/>
                </a:solidFill>
                <a:latin typeface="Microsoft YaHei"/>
              </a:defRPr>
            </a:pPr>
            <a:r>
              <a:t>建议从一个试点产品开始：生成一批一物一码，配置一个首扫福利，跑通扫码、领券、私域、复购归因。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3886200"/>
            <a:ext cx="1554480" cy="658368"/>
          </a:xfrm>
          <a:prstGeom prst="roundRect">
            <a:avLst/>
          </a:prstGeom>
          <a:solidFill>
            <a:srgbClr val="F4F8F6"/>
          </a:solidFill>
          <a:ln w="15240">
            <a:solidFill>
              <a:srgbClr val="16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3986784"/>
            <a:ext cx="1444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选产品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4215384"/>
            <a:ext cx="256032" cy="0"/>
          </a:xfrm>
          <a:prstGeom prst="line">
            <a:avLst/>
          </a:prstGeom>
          <a:ln w="16510">
            <a:solidFill>
              <a:srgbClr val="167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16352" y="3886200"/>
            <a:ext cx="15544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6" y="3986784"/>
            <a:ext cx="1444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定权益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70832" y="4215384"/>
            <a:ext cx="256032" cy="0"/>
          </a:xfrm>
          <a:prstGeom prst="line">
            <a:avLst/>
          </a:prstGeom>
          <a:ln w="16510">
            <a:solidFill>
              <a:srgbClr val="167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626864" y="3886200"/>
            <a:ext cx="1554480" cy="658368"/>
          </a:xfrm>
          <a:prstGeom prst="roundRect">
            <a:avLst/>
          </a:prstGeom>
          <a:solidFill>
            <a:srgbClr val="F4F8F6"/>
          </a:solidFill>
          <a:ln w="15240">
            <a:solidFill>
              <a:srgbClr val="16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3986784"/>
            <a:ext cx="1444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生成/接管码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81344" y="4215384"/>
            <a:ext cx="256032" cy="0"/>
          </a:xfrm>
          <a:prstGeom prst="line">
            <a:avLst/>
          </a:prstGeom>
          <a:ln w="16510">
            <a:solidFill>
              <a:srgbClr val="167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37375" y="3886200"/>
            <a:ext cx="15544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39" y="3986784"/>
            <a:ext cx="1444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上线扫码页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91855" y="4215384"/>
            <a:ext cx="256032" cy="0"/>
          </a:xfrm>
          <a:prstGeom prst="line">
            <a:avLst/>
          </a:prstGeom>
          <a:ln w="16510">
            <a:solidFill>
              <a:srgbClr val="167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47888" y="3886200"/>
            <a:ext cx="1554480" cy="658368"/>
          </a:xfrm>
          <a:prstGeom prst="roundRect">
            <a:avLst/>
          </a:prstGeom>
          <a:solidFill>
            <a:srgbClr val="F4F8F6"/>
          </a:solidFill>
          <a:ln w="15240">
            <a:solidFill>
              <a:srgbClr val="16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3986784"/>
            <a:ext cx="1444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2326"/>
                </a:solidFill>
                <a:latin typeface="Microsoft YaHei"/>
              </a:defRPr>
            </a:pPr>
            <a:r>
              <a:t>复盘数据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9436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E6C74"/>
                </a:solidFill>
                <a:latin typeface="Microsoft YaHei"/>
              </a:defRPr>
            </a:pPr>
            <a:r>
              <a:t>一码通 · 包装扫码增长 SaaS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326"/>
                </a:solidFill>
                <a:latin typeface="Microsoft YaHei"/>
              </a:defRPr>
            </a:pPr>
            <a:r>
              <a:t>附录｜资料依据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658368" cy="54864"/>
          </a:xfrm>
          <a:prstGeom prst="rect">
            <a:avLst/>
          </a:prstGeom>
          <a:solidFill>
            <a:srgbClr val="16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C74"/>
                </a:solidFill>
                <a:latin typeface="Microsoft YaHei"/>
              </a:defRPr>
            </a:pPr>
            <a:r>
              <a:t>用于行业趋势、合规和外部权益集成判断。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320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C74"/>
                </a:solidFill>
                <a:latin typeface="Microsoft YaHei"/>
              </a:defRPr>
            </a:pPr>
            <a:r>
              <a:t>一码通 · 包装扫码增长 SaaS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C2326"/>
                </a:solidFill>
                <a:latin typeface="Microsoft YaHei"/>
              </a:defRPr>
            </a:pPr>
            <a:r>
              <a:t>1. GS1 US：Sunrise 2027 推动 2D 条码、透明度、追溯和消费者信息连接。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7568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C2326"/>
                </a:solidFill>
                <a:latin typeface="Microsoft YaHei"/>
              </a:defRPr>
            </a:pPr>
            <a:r>
              <a:t>2. GS1：QR Code 可被多数智能手机读取，可承载 GS1 Digital Link URI。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3405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C2326"/>
                </a:solidFill>
                <a:latin typeface="Microsoft YaHei"/>
              </a:defRPr>
            </a:pPr>
            <a:r>
              <a:t>3. Trends in Food Science &amp; Technology 2024：食品包装 QR 码在追溯、质量评价、防伪和营销方面有应用。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9242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C2326"/>
                </a:solidFill>
                <a:latin typeface="Microsoft YaHei"/>
              </a:defRPr>
            </a:pPr>
            <a:r>
              <a:t>4. 《消费者权益保护法》《消费者权益保护法实施条例》：个人信息、商业触达、取消方式等合规要求。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50791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C2326"/>
                </a:solidFill>
                <a:latin typeface="Microsoft YaHei"/>
              </a:defRPr>
            </a:pPr>
            <a:r>
              <a:t>5. 微信支付、支付宝、微盟、有赞、抖音等开放文档：外部券能力存在平台权限和场景差异。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C44E45"/>
                </a:solidFill>
                <a:latin typeface="Microsoft YaHei"/>
              </a:defRPr>
            </a:pPr>
            <a:r>
              <a:t>注：具体接口能力以客户授权、服务商资质、平台审核和当期官方文档为准。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